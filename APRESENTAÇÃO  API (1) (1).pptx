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" charset="1" panose="00000500000000000000"/>
      <p:regular r:id="rId20"/>
    </p:embeddedFont>
    <p:embeddedFont>
      <p:font typeface="Poppins Semi-Bold" charset="1" panose="000007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 Medium" charset="1" panose="00000600000000000000"/>
      <p:regular r:id="rId23"/>
    </p:embeddedFont>
    <p:embeddedFont>
      <p:font typeface="Open Sans Bold Italics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210" y="8898593"/>
            <a:ext cx="321607" cy="321607"/>
          </a:xfrm>
          <a:custGeom>
            <a:avLst/>
            <a:gdLst/>
            <a:ahLst/>
            <a:cxnLst/>
            <a:rect r="r" b="b" t="t" l="l"/>
            <a:pathLst>
              <a:path h="321607" w="321607">
                <a:moveTo>
                  <a:pt x="0" y="0"/>
                </a:moveTo>
                <a:lnTo>
                  <a:pt x="321607" y="0"/>
                </a:lnTo>
                <a:lnTo>
                  <a:pt x="321607" y="321607"/>
                </a:lnTo>
                <a:lnTo>
                  <a:pt x="0" y="32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10659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06034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 b="true">
                <a:solidFill>
                  <a:srgbClr val="16416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Solução de Problema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785013" y="9692531"/>
            <a:ext cx="10616402" cy="3086100"/>
            <a:chOff x="0" y="0"/>
            <a:chExt cx="279608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75652" y="0"/>
            <a:ext cx="7412348" cy="5559261"/>
            <a:chOff x="0" y="0"/>
            <a:chExt cx="812800" cy="609600"/>
          </a:xfrm>
        </p:grpSpPr>
        <p:sp>
          <p:nvSpPr>
            <p:cNvPr name="Freeform 9" id="9"/>
            <p:cNvSpPr/>
            <p:nvPr/>
          </p:nvSpPr>
          <p:spPr>
            <a:xfrm flipH="true" flipV="true" rot="-1080000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285" t="0" r="-181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-4272804">
            <a:off x="10553906" y="1797632"/>
            <a:ext cx="192574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4888" y="1002733"/>
            <a:ext cx="7360488" cy="512526"/>
            <a:chOff x="0" y="0"/>
            <a:chExt cx="9813984" cy="683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8" y="0"/>
                  </a:lnTo>
                  <a:lnTo>
                    <a:pt x="458478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99865" y="56781"/>
              <a:ext cx="9214119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PROJETO INTEGRADOR - 4º SEM. 2025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1664" y="5511636"/>
            <a:ext cx="427438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rojeto: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8174" y="6006618"/>
            <a:ext cx="878617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digital de Controle e Monitoramento de Ferramentas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1664" y="8164046"/>
            <a:ext cx="7003049" cy="895351"/>
            <a:chOff x="0" y="0"/>
            <a:chExt cx="9337399" cy="119380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9337399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641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Responsável por autorizar o projeto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49276"/>
              <a:ext cx="8263822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Fábio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-4247818">
            <a:off x="10563003" y="7205175"/>
            <a:ext cx="14545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75652" y="4700014"/>
            <a:ext cx="7412348" cy="5559261"/>
            <a:chOff x="0" y="0"/>
            <a:chExt cx="8128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46065" t="-35831" r="-44163" b="-2649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33283" y="952500"/>
            <a:ext cx="10821434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SCRUM &amp; MATRIZ DE RESPONSABILIDADES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4717" y="-1740704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165615" y="3821682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384550"/>
            <a:ext cx="16230600" cy="573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Pedro Henrique </a:t>
            </a:r>
          </a:p>
          <a:p>
            <a:pPr algn="ctr">
              <a:lnSpc>
                <a:spcPts val="4549"/>
              </a:lnSpc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|código, automação, identificação das ferramentas e orçamento|</a:t>
            </a:r>
          </a:p>
          <a:p>
            <a:pPr algn="just">
              <a:lnSpc>
                <a:spcPts val="4549"/>
              </a:lnSpc>
            </a:pPr>
          </a:p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Vinicius Santos </a:t>
            </a:r>
          </a:p>
          <a:p>
            <a:pPr algn="ctr">
              <a:lnSpc>
                <a:spcPts val="4549"/>
              </a:lnSpc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|objetivo, justificativa e passo a passo da solução|</a:t>
            </a:r>
          </a:p>
          <a:p>
            <a:pPr algn="just">
              <a:lnSpc>
                <a:spcPts val="4549"/>
              </a:lnSpc>
            </a:pPr>
          </a:p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Kauã Yuri </a:t>
            </a:r>
          </a:p>
          <a:p>
            <a:pPr algn="ctr">
              <a:lnSpc>
                <a:spcPts val="4549"/>
              </a:lnSpc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|identificação do problema e pesquisa da solução|</a:t>
            </a:r>
          </a:p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Mateus Aparecido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|premissas, restrições, riscos e oportunidades|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9476593"/>
            <a:ext cx="10616402" cy="3086100"/>
            <a:chOff x="0" y="0"/>
            <a:chExt cx="2796089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472402" y="-2312364"/>
            <a:ext cx="10616402" cy="3086100"/>
            <a:chOff x="0" y="0"/>
            <a:chExt cx="279608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40474" y="3521651"/>
            <a:ext cx="774763" cy="813800"/>
            <a:chOff x="0" y="0"/>
            <a:chExt cx="812800" cy="853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0474" y="4502275"/>
            <a:ext cx="774763" cy="813800"/>
            <a:chOff x="0" y="0"/>
            <a:chExt cx="812800" cy="8537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40474" y="5486587"/>
            <a:ext cx="774763" cy="813800"/>
            <a:chOff x="0" y="0"/>
            <a:chExt cx="812800" cy="853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40474" y="6471838"/>
            <a:ext cx="774763" cy="813800"/>
            <a:chOff x="0" y="0"/>
            <a:chExt cx="812800" cy="853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05298" y="3688475"/>
            <a:ext cx="774763" cy="813800"/>
            <a:chOff x="0" y="0"/>
            <a:chExt cx="812800" cy="853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274539">
            <a:off x="-5052865" y="2436516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23286" y="4143562"/>
            <a:ext cx="539333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TÓPICOS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41873" y="3723446"/>
            <a:ext cx="3174947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PROBLEMA E SOLUÇÃO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39086" y="4642079"/>
            <a:ext cx="3177734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ESCOPO DO PROJETO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1873" y="5688382"/>
            <a:ext cx="3739575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 E JUSTIFICATIVA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41873" y="6673633"/>
            <a:ext cx="3593981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DESCRIÇÃO DA SOLUÇÃO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243261" y="7457088"/>
            <a:ext cx="4838188" cy="813800"/>
            <a:chOff x="0" y="0"/>
            <a:chExt cx="6450917" cy="108506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5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464817" y="281760"/>
              <a:ext cx="4986100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EXEMPLO DE CÓDIGO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1911017">
            <a:off x="12792748" y="-6935882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405298" y="5658037"/>
            <a:ext cx="4759784" cy="813800"/>
            <a:chOff x="0" y="0"/>
            <a:chExt cx="6346379" cy="108506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8</a:t>
                </a: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418978" y="275833"/>
              <a:ext cx="4927402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RISCOS E OPORTUNIDADES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05298" y="4673725"/>
            <a:ext cx="774763" cy="813800"/>
            <a:chOff x="0" y="0"/>
            <a:chExt cx="812800" cy="8537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7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503911" y="4874582"/>
            <a:ext cx="3739575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PREMISSAS E RESTRIÇÕES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03911" y="3768215"/>
            <a:ext cx="3739575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IDENTIFICAÇÃO DA FERRAMENTAS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405298" y="6638843"/>
            <a:ext cx="774763" cy="813800"/>
            <a:chOff x="0" y="0"/>
            <a:chExt cx="812800" cy="8537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9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469532" y="6840638"/>
            <a:ext cx="3368112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ORÇAMENTO ESTIMADO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638555">
            <a:off x="-3005357" y="803988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9313" y="1066800"/>
            <a:ext cx="1070079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 E SOLUÇÃO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4641" y="2556165"/>
            <a:ext cx="15890138" cy="561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Problemas: 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Risco de extravio, 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alta de rastreabilidade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Falhas em registros manuais.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Riscos à segurança operacional.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Solução: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Implementar sistema de leitura NFC.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Automatizar registro em banco de dados/Excel</a:t>
            </a:r>
          </a:p>
          <a:p>
            <a:pPr algn="l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Garantir rastreabilidade de todas as ferramentas.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2638555">
            <a:off x="-3186419" y="5889686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2638555">
            <a:off x="-3341614" y="361122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638555">
            <a:off x="-3341614" y="1487430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638555">
            <a:off x="-3496809" y="-662235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833539" y="25242"/>
              <a:ext cx="5102936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Kauã Yuri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2686" y="2082275"/>
            <a:ext cx="8152526" cy="7691520"/>
          </a:xfrm>
          <a:custGeom>
            <a:avLst/>
            <a:gdLst/>
            <a:ahLst/>
            <a:cxnLst/>
            <a:rect r="r" b="b" t="t" l="l"/>
            <a:pathLst>
              <a:path h="7691520" w="8152526">
                <a:moveTo>
                  <a:pt x="0" y="0"/>
                </a:moveTo>
                <a:lnTo>
                  <a:pt x="8152526" y="0"/>
                </a:lnTo>
                <a:lnTo>
                  <a:pt x="8152526" y="7691520"/>
                </a:lnTo>
                <a:lnTo>
                  <a:pt x="0" y="7691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3475" y="982576"/>
            <a:ext cx="1106105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ESCOPO DO PROJETO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28962"/>
            <a:ext cx="9635936" cy="448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istema digital de controle de ferramentas aeronáuticas.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de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NFC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para registrar entradas e saídas.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Cadastro de operadores e ferramentas.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dados para auditoria e relatórios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79494" y="9677947"/>
            <a:ext cx="9929013" cy="3086100"/>
            <a:chOff x="0" y="0"/>
            <a:chExt cx="261504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80464" y="529463"/>
            <a:ext cx="392525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Kauã Yuri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816" y="952500"/>
            <a:ext cx="1282289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E JUSTIFICATIVA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86100"/>
            <a:ext cx="1623060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Objetivo: Criar e implantar um sistema de controle digital de ferramentas usando NFC.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Justificativa: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Garantir rastreabilidade de ferramentas.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Reduzir perdas.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Aumentar eficiência no processo de retirada e devolução.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Melhor organização interna da oficina de manutenção.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85013" y="9692531"/>
            <a:ext cx="9929013" cy="3086100"/>
            <a:chOff x="0" y="0"/>
            <a:chExt cx="261504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2035" y="529463"/>
            <a:ext cx="471656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Vinícius Santos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9756" y="1021159"/>
            <a:ext cx="120832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DESCRIÇÃO DA SOLUÇÃO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166"/>
            <a:ext cx="16230600" cy="785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1.Identificação por NFC: 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 operador recebe um cartão/bracelete NFC com UID único.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Registro manual da ferramenta: ao retirar/devolver, o operador aproxima seu cartão NFC no leitor (autenticação) e digita manualmente o ID da ferramenta no software (campo no PC).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Dados gravados: operador (nome), ID e nome da ferramenta (digitado), ação (retirada/devolução), data/hora e setor de trabalho.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Armazenamento: banco local (Excel/SQLite) com histórico para relatórios.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Feedback ao usuário: confirmação visual no software (mensagem/LED/sonoro) ao salvar o registro.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5" id="5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8" id="8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901" y="1172672"/>
            <a:ext cx="17175922" cy="8543232"/>
          </a:xfrm>
          <a:custGeom>
            <a:avLst/>
            <a:gdLst/>
            <a:ahLst/>
            <a:cxnLst/>
            <a:rect r="r" b="b" t="t" l="l"/>
            <a:pathLst>
              <a:path h="8543232" w="17175922">
                <a:moveTo>
                  <a:pt x="0" y="0"/>
                </a:moveTo>
                <a:lnTo>
                  <a:pt x="17175922" y="0"/>
                </a:lnTo>
                <a:lnTo>
                  <a:pt x="17175922" y="8543232"/>
                </a:lnTo>
                <a:lnTo>
                  <a:pt x="0" y="854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9622" y="9772650"/>
            <a:ext cx="408875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Banco de Dados - Excel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64775" y="545973"/>
            <a:ext cx="47907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Vinícius Santos</a:t>
            </a:r>
          </a:p>
        </p:txBody>
      </p:sp>
      <p:sp>
        <p:nvSpPr>
          <p:cNvPr name="AutoShape 7" id="7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37903" y="-4267891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26512" y="2201776"/>
            <a:ext cx="9342422" cy="7594008"/>
          </a:xfrm>
          <a:custGeom>
            <a:avLst/>
            <a:gdLst/>
            <a:ahLst/>
            <a:cxnLst/>
            <a:rect r="r" b="b" t="t" l="l"/>
            <a:pathLst>
              <a:path h="7594008" w="9342422">
                <a:moveTo>
                  <a:pt x="0" y="0"/>
                </a:moveTo>
                <a:lnTo>
                  <a:pt x="9342422" y="0"/>
                </a:lnTo>
                <a:lnTo>
                  <a:pt x="9342422" y="7594008"/>
                </a:lnTo>
                <a:lnTo>
                  <a:pt x="0" y="759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270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4256" y="982576"/>
            <a:ext cx="120832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EXEMPLO DE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3697" y="2190685"/>
            <a:ext cx="7536797" cy="75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Leitura do UID: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leitor ACR122U extrai o UID (Unique Identifier) da tag/celular NFC. Este é o identificador único da ferramenta.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Conexão ao Banco de Dados: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programa se conecta ao banco de dados (ex: SQLite) onde as ferramentas estão cadastradas.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Identificação e Status: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UID lido é usado para buscar a ferramenta. O sistema verifica seu status atual (disponível/em uso).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4. Registro da Movimentação: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status é atualizado (entrada/saída) e a movimentação é registrada no histórico do banco de dados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14613" y="587375"/>
            <a:ext cx="482571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75169" y="3287377"/>
            <a:ext cx="5884131" cy="5970923"/>
          </a:xfrm>
          <a:custGeom>
            <a:avLst/>
            <a:gdLst/>
            <a:ahLst/>
            <a:cxnLst/>
            <a:rect r="r" b="b" t="t" l="l"/>
            <a:pathLst>
              <a:path h="5970923" w="5884131">
                <a:moveTo>
                  <a:pt x="0" y="0"/>
                </a:moveTo>
                <a:lnTo>
                  <a:pt x="5884131" y="0"/>
                </a:lnTo>
                <a:lnTo>
                  <a:pt x="5884131" y="5970923"/>
                </a:lnTo>
                <a:lnTo>
                  <a:pt x="0" y="597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66" r="0" b="-172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522" y="839701"/>
            <a:ext cx="16950956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IDENTIFICAÇÃO DAS FERRAMENTAS COM IDS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0407" y="3822311"/>
            <a:ext cx="9240786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ferramenta terá uma etiqueta visível com seu ID único.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operador, ao retirar a ferramenta, deve: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Aproximar seu cartão/bracelete NFC no leitor (para identificar quem é o operador).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Digitar o ID da ferramenta no computador, conforme a etiqueta mostrada no kit.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8" id="8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0052" y="1151988"/>
            <a:ext cx="5658039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PREMISSAS</a:t>
            </a:r>
          </a:p>
        </p:txBody>
      </p:sp>
      <p:grpSp>
        <p:nvGrpSpPr>
          <p:cNvPr name="Group 3" id="3"/>
          <p:cNvGrpSpPr/>
          <p:nvPr/>
        </p:nvGrpSpPr>
        <p:grpSpPr>
          <a:xfrm rot="833211">
            <a:off x="16379808" y="-2976044"/>
            <a:ext cx="6637238" cy="9055598"/>
            <a:chOff x="0" y="0"/>
            <a:chExt cx="8849650" cy="12074131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2671992" y="5896472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8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8" y="5118219"/>
                  </a:lnTo>
                  <a:lnTo>
                    <a:pt x="5118218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98584" y="9604540"/>
            <a:ext cx="14490832" cy="3086100"/>
            <a:chOff x="0" y="0"/>
            <a:chExt cx="3816515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6515" cy="812800"/>
            </a:xfrm>
            <a:custGeom>
              <a:avLst/>
              <a:gdLst/>
              <a:ahLst/>
              <a:cxnLst/>
              <a:rect r="r" b="b" t="t" l="l"/>
              <a:pathLst>
                <a:path h="812800" w="3816515">
                  <a:moveTo>
                    <a:pt x="53426" y="0"/>
                  </a:moveTo>
                  <a:lnTo>
                    <a:pt x="3763089" y="0"/>
                  </a:lnTo>
                  <a:cubicBezTo>
                    <a:pt x="3777259" y="0"/>
                    <a:pt x="3790848" y="5629"/>
                    <a:pt x="3800867" y="15648"/>
                  </a:cubicBezTo>
                  <a:cubicBezTo>
                    <a:pt x="3810887" y="25668"/>
                    <a:pt x="3816515" y="39257"/>
                    <a:pt x="3816515" y="53426"/>
                  </a:cubicBezTo>
                  <a:lnTo>
                    <a:pt x="3816515" y="759374"/>
                  </a:lnTo>
                  <a:cubicBezTo>
                    <a:pt x="3816515" y="773543"/>
                    <a:pt x="3810887" y="787132"/>
                    <a:pt x="3800867" y="797152"/>
                  </a:cubicBezTo>
                  <a:cubicBezTo>
                    <a:pt x="3790848" y="807171"/>
                    <a:pt x="3777259" y="812800"/>
                    <a:pt x="3763089" y="812800"/>
                  </a:cubicBezTo>
                  <a:lnTo>
                    <a:pt x="53426" y="812800"/>
                  </a:lnTo>
                  <a:cubicBezTo>
                    <a:pt x="39257" y="812800"/>
                    <a:pt x="25668" y="807171"/>
                    <a:pt x="15648" y="797152"/>
                  </a:cubicBezTo>
                  <a:cubicBezTo>
                    <a:pt x="5629" y="787132"/>
                    <a:pt x="0" y="773543"/>
                    <a:pt x="0" y="759374"/>
                  </a:cubicBezTo>
                  <a:lnTo>
                    <a:pt x="0" y="53426"/>
                  </a:lnTo>
                  <a:cubicBezTo>
                    <a:pt x="0" y="39257"/>
                    <a:pt x="5629" y="25668"/>
                    <a:pt x="15648" y="15648"/>
                  </a:cubicBezTo>
                  <a:cubicBezTo>
                    <a:pt x="25668" y="5629"/>
                    <a:pt x="39257" y="0"/>
                    <a:pt x="53426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651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057525"/>
            <a:ext cx="7580744" cy="414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Tags NFC são duráveis e de baixo custo.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dos os operadores terão acesso a leitores NFC.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nco de dados local (Excel/SQL) suficiente para arm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azenamento inicial.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0762" y="1151988"/>
            <a:ext cx="5876332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RESTRIÇÕES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8556" y="3057525"/>
            <a:ext cx="7580744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Leitores NFC exigem proximidade (até 10 cm).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Nece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ssidade de treinamento inicial dos operadores.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não terá integração com ERP nesta f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ase inicial.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9144000" y="1215215"/>
            <a:ext cx="0" cy="76382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84650" y="497124"/>
            <a:ext cx="17518700" cy="531576"/>
            <a:chOff x="0" y="0"/>
            <a:chExt cx="23358267" cy="7087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128643" y="47256"/>
              <a:ext cx="5757273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Mateus Silva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51988"/>
            <a:ext cx="81153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RISCOS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259300" y="-2803963"/>
            <a:ext cx="5427824" cy="9055598"/>
            <a:chOff x="0" y="0"/>
            <a:chExt cx="7237098" cy="12074131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1059440" y="5896472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98584" y="9604540"/>
            <a:ext cx="14490832" cy="3086100"/>
            <a:chOff x="0" y="0"/>
            <a:chExt cx="3816515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6515" cy="812800"/>
            </a:xfrm>
            <a:custGeom>
              <a:avLst/>
              <a:gdLst/>
              <a:ahLst/>
              <a:cxnLst/>
              <a:rect r="r" b="b" t="t" l="l"/>
              <a:pathLst>
                <a:path h="812800" w="3816515">
                  <a:moveTo>
                    <a:pt x="53426" y="0"/>
                  </a:moveTo>
                  <a:lnTo>
                    <a:pt x="3763089" y="0"/>
                  </a:lnTo>
                  <a:cubicBezTo>
                    <a:pt x="3777259" y="0"/>
                    <a:pt x="3790848" y="5629"/>
                    <a:pt x="3800867" y="15648"/>
                  </a:cubicBezTo>
                  <a:cubicBezTo>
                    <a:pt x="3810887" y="25668"/>
                    <a:pt x="3816515" y="39257"/>
                    <a:pt x="3816515" y="53426"/>
                  </a:cubicBezTo>
                  <a:lnTo>
                    <a:pt x="3816515" y="759374"/>
                  </a:lnTo>
                  <a:cubicBezTo>
                    <a:pt x="3816515" y="773543"/>
                    <a:pt x="3810887" y="787132"/>
                    <a:pt x="3800867" y="797152"/>
                  </a:cubicBezTo>
                  <a:cubicBezTo>
                    <a:pt x="3790848" y="807171"/>
                    <a:pt x="3777259" y="812800"/>
                    <a:pt x="3763089" y="812800"/>
                  </a:cubicBezTo>
                  <a:lnTo>
                    <a:pt x="53426" y="812800"/>
                  </a:lnTo>
                  <a:cubicBezTo>
                    <a:pt x="39257" y="812800"/>
                    <a:pt x="25668" y="807171"/>
                    <a:pt x="15648" y="797152"/>
                  </a:cubicBezTo>
                  <a:cubicBezTo>
                    <a:pt x="5629" y="787132"/>
                    <a:pt x="0" y="773543"/>
                    <a:pt x="0" y="759374"/>
                  </a:cubicBezTo>
                  <a:lnTo>
                    <a:pt x="0" y="53426"/>
                  </a:lnTo>
                  <a:cubicBezTo>
                    <a:pt x="0" y="39257"/>
                    <a:pt x="5629" y="25668"/>
                    <a:pt x="15648" y="15648"/>
                  </a:cubicBezTo>
                  <a:cubicBezTo>
                    <a:pt x="25668" y="5629"/>
                    <a:pt x="39257" y="0"/>
                    <a:pt x="53426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651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286125"/>
            <a:ext cx="7842434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Resistência dos operadores ao novo sistema.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ossibilidade de falha no leitor NFC.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cessidade de backup fr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equente.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0225" y="1151988"/>
            <a:ext cx="8328131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OPORTUNIDADES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0225" y="3514725"/>
            <a:ext cx="8082551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Aumento da confiabilidade interna.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idade em auditorias e controles internos.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tec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nológica para futuras exp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ansões.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9144000" y="1215215"/>
            <a:ext cx="0" cy="76382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25714" y="459024"/>
            <a:ext cx="17518700" cy="569676"/>
            <a:chOff x="0" y="0"/>
            <a:chExt cx="23358267" cy="759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000777" y="117159"/>
              <a:ext cx="5901972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Mateus Silva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0" y="7341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2498"/>
            <a:ext cx="16230600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ORÇAMENTO ESTIMADO DA SOLUÇÃO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2638555">
            <a:off x="17762800" y="2737143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638555">
            <a:off x="15980367" y="-847759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56910"/>
            <a:ext cx="16230600" cy="414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Leitores NFC USB (2 unidades) → R$100,00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PC central/notebook → R$ 1.500,00 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até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R$ 2.500,00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(Excel/Python – open source) → R$ 0,00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Tags/Card NFC → R$ 50,00 até R$ 150,00 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estim</a:t>
            </a:r>
            <a:r>
              <a:rPr lang="en-US" sz="3000" spc="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ado: R$ 1.750,00 até R$ 2,750,00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0202" y="598498"/>
            <a:ext cx="475494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9" id="9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732046" cy="5143500"/>
          </a:xfrm>
          <a:custGeom>
            <a:avLst/>
            <a:gdLst/>
            <a:ahLst/>
            <a:cxnLst/>
            <a:rect r="r" b="b" t="t" l="l"/>
            <a:pathLst>
              <a:path h="5143500" w="13732046">
                <a:moveTo>
                  <a:pt x="0" y="0"/>
                </a:moveTo>
                <a:lnTo>
                  <a:pt x="13732046" y="0"/>
                </a:lnTo>
                <a:lnTo>
                  <a:pt x="1373204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90" t="-9888" r="-1490" b="-29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9425132" cy="4890276"/>
          </a:xfrm>
          <a:custGeom>
            <a:avLst/>
            <a:gdLst/>
            <a:ahLst/>
            <a:cxnLst/>
            <a:rect r="r" b="b" t="t" l="l"/>
            <a:pathLst>
              <a:path h="4890276" w="9425132">
                <a:moveTo>
                  <a:pt x="0" y="0"/>
                </a:moveTo>
                <a:lnTo>
                  <a:pt x="9425132" y="0"/>
                </a:lnTo>
                <a:lnTo>
                  <a:pt x="9425132" y="4890276"/>
                </a:lnTo>
                <a:lnTo>
                  <a:pt x="0" y="489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599" r="-2587" b="-54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21782" y="4141968"/>
            <a:ext cx="7166218" cy="6145032"/>
          </a:xfrm>
          <a:custGeom>
            <a:avLst/>
            <a:gdLst/>
            <a:ahLst/>
            <a:cxnLst/>
            <a:rect r="r" b="b" t="t" l="l"/>
            <a:pathLst>
              <a:path h="6145032" w="7166218">
                <a:moveTo>
                  <a:pt x="0" y="0"/>
                </a:moveTo>
                <a:lnTo>
                  <a:pt x="7166218" y="0"/>
                </a:lnTo>
                <a:lnTo>
                  <a:pt x="7166218" y="6145032"/>
                </a:lnTo>
                <a:lnTo>
                  <a:pt x="0" y="6145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DAGzkZ7BqD0</dc:identifier>
  <dcterms:modified xsi:type="dcterms:W3CDTF">2011-08-01T06:04:30Z</dcterms:modified>
  <cp:revision>1</cp:revision>
  <dc:title>APRESENTAÇÃO  API</dc:title>
</cp:coreProperties>
</file>