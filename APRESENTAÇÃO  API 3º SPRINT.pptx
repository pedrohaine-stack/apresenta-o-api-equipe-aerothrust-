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oppins" charset="1" panose="00000500000000000000"/>
      <p:regular r:id="rId24"/>
    </p:embeddedFont>
    <p:embeddedFont>
      <p:font typeface="Poppins Semi-Bold" charset="1" panose="00000700000000000000"/>
      <p:regular r:id="rId25"/>
    </p:embeddedFont>
    <p:embeddedFont>
      <p:font typeface="Poppins Bold" charset="1" panose="00000800000000000000"/>
      <p:regular r:id="rId26"/>
    </p:embeddedFont>
    <p:embeddedFont>
      <p:font typeface="Poppins Medium" charset="1" panose="00000600000000000000"/>
      <p:regular r:id="rId27"/>
    </p:embeddedFont>
    <p:embeddedFont>
      <p:font typeface="Poppins Italics" charset="1" panose="00000500000000000000"/>
      <p:regular r:id="rId28"/>
    </p:embeddedFont>
    <p:embeddedFont>
      <p:font typeface="Arimo" charset="1" panose="020B06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jpeg" Type="http://schemas.openxmlformats.org/officeDocument/2006/relationships/image"/><Relationship Id="rId6" Target="../media/image11.png" Type="http://schemas.openxmlformats.org/officeDocument/2006/relationships/image"/><Relationship Id="rId7" Target="../media/image1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jpe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11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12" Target="https://www.youtube.com/watch?v=0KX-8koO14c" TargetMode="External" Type="http://schemas.openxmlformats.org/officeDocument/2006/relationships/hyperlink"/><Relationship Id="rId13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5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6" Target="https://blog.fazedores.com/fechadura-eletronica-com-arduino-e-rfid/" TargetMode="External" Type="http://schemas.openxmlformats.org/officeDocument/2006/relationships/hyperlink"/><Relationship Id="rId7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8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9" Target="https://www.mercadolivre.com.br/trava-fechadura-eletrica-solenoide-12v-para-arduino/up/MLBU1190033542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5210" y="8898593"/>
            <a:ext cx="321607" cy="321607"/>
          </a:xfrm>
          <a:custGeom>
            <a:avLst/>
            <a:gdLst/>
            <a:ahLst/>
            <a:cxnLst/>
            <a:rect r="r" b="b" t="t" l="l"/>
            <a:pathLst>
              <a:path h="321607" w="321607">
                <a:moveTo>
                  <a:pt x="0" y="0"/>
                </a:moveTo>
                <a:lnTo>
                  <a:pt x="321607" y="0"/>
                </a:lnTo>
                <a:lnTo>
                  <a:pt x="321607" y="321607"/>
                </a:lnTo>
                <a:lnTo>
                  <a:pt x="0" y="321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810659"/>
            <a:ext cx="965280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spc="-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Proposta</a:t>
            </a:r>
            <a:r>
              <a:rPr lang="en-US" sz="7000" spc="-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06034"/>
            <a:ext cx="965280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spc="-280" b="true">
                <a:solidFill>
                  <a:srgbClr val="16416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Solução de Problema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785013" y="9692531"/>
            <a:ext cx="10616402" cy="3086100"/>
            <a:chOff x="0" y="0"/>
            <a:chExt cx="279608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75652" y="0"/>
            <a:ext cx="7412348" cy="5559261"/>
            <a:chOff x="0" y="0"/>
            <a:chExt cx="812800" cy="609600"/>
          </a:xfrm>
        </p:grpSpPr>
        <p:sp>
          <p:nvSpPr>
            <p:cNvPr name="Freeform 9" id="9"/>
            <p:cNvSpPr/>
            <p:nvPr/>
          </p:nvSpPr>
          <p:spPr>
            <a:xfrm flipH="true" flipV="true" rot="-1080000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2285" t="0" r="-181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-4272804">
            <a:off x="10553906" y="1797632"/>
            <a:ext cx="192574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94888" y="1002733"/>
            <a:ext cx="7360488" cy="512526"/>
            <a:chOff x="0" y="0"/>
            <a:chExt cx="9813984" cy="683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8" y="0"/>
                  </a:lnTo>
                  <a:lnTo>
                    <a:pt x="458478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599865" y="56781"/>
              <a:ext cx="9214119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PROJETO INTEGRADOR - 4º SEM. 2025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1664" y="5511636"/>
            <a:ext cx="427438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>
                <a:solidFill>
                  <a:srgbClr val="16416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999">
                <a:solidFill>
                  <a:srgbClr val="164160"/>
                </a:solidFill>
                <a:latin typeface="Poppins Bold"/>
                <a:ea typeface="Poppins Bold"/>
                <a:cs typeface="Poppins Bold"/>
                <a:sym typeface="Poppins Bold"/>
              </a:rPr>
              <a:t>rojeto: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8174" y="6006618"/>
            <a:ext cx="878617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Controle Físico de Acesso com RFID e Trava Eletrônica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1664" y="8164046"/>
            <a:ext cx="7003049" cy="895351"/>
            <a:chOff x="0" y="0"/>
            <a:chExt cx="9337399" cy="119380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9337399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1641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Responsável por autorizar o projeto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49276"/>
              <a:ext cx="8263822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Fábio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-4247818">
            <a:off x="10563003" y="7205175"/>
            <a:ext cx="14545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75652" y="4700014"/>
            <a:ext cx="7412348" cy="5559261"/>
            <a:chOff x="0" y="0"/>
            <a:chExt cx="8128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l="-46065" t="-35831" r="-44163" b="-2649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79640" y="-2312364"/>
            <a:ext cx="7210257" cy="9012725"/>
            <a:chOff x="0" y="0"/>
            <a:chExt cx="9613675" cy="12016967"/>
          </a:xfrm>
        </p:grpSpPr>
        <p:sp>
          <p:nvSpPr>
            <p:cNvPr name="Freeform 3" id="3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502659" y="3867944"/>
            <a:ext cx="7210257" cy="9012725"/>
            <a:chOff x="0" y="0"/>
            <a:chExt cx="9613675" cy="12016967"/>
          </a:xfrm>
        </p:grpSpPr>
        <p:sp>
          <p:nvSpPr>
            <p:cNvPr name="Freeform 6" id="6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9476593"/>
            <a:ext cx="10616402" cy="3086100"/>
            <a:chOff x="0" y="0"/>
            <a:chExt cx="2796089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472402" y="-2312364"/>
            <a:ext cx="10616402" cy="3086100"/>
            <a:chOff x="0" y="0"/>
            <a:chExt cx="2796089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278" y="3091917"/>
            <a:ext cx="2866638" cy="28666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529954" y="3059736"/>
            <a:ext cx="2898820" cy="289882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2776" t="-46118" r="-7296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608936" y="4926212"/>
            <a:ext cx="2898820" cy="289882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6865" t="0" r="-686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836718" y="4926212"/>
            <a:ext cx="2898820" cy="289882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2855" r="-57509" b="-67157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733283" y="697536"/>
            <a:ext cx="1082143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METODOLOGIA SCRUM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81990" y="7758357"/>
            <a:ext cx="3352711" cy="11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Master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ctr" marL="0" indent="0" lvl="0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Vinicius Santos 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0078" y="5891880"/>
            <a:ext cx="3515038" cy="11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Owner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ctr" marL="0" indent="0" lvl="0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Pedro Henrique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79640" y="7758357"/>
            <a:ext cx="3012975" cy="11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Team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ctr" marL="0" indent="0" lvl="0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Kauã Yuri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8539" y="5891880"/>
            <a:ext cx="4181650" cy="11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Team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ctr" marL="0" indent="0" lvl="0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Mateus Aparecido 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18242" y="-2505851"/>
            <a:ext cx="7210257" cy="9012725"/>
            <a:chOff x="0" y="0"/>
            <a:chExt cx="9613675" cy="12016967"/>
          </a:xfrm>
        </p:grpSpPr>
        <p:sp>
          <p:nvSpPr>
            <p:cNvPr name="Freeform 3" id="3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502659" y="3867944"/>
            <a:ext cx="7210257" cy="9012725"/>
            <a:chOff x="0" y="0"/>
            <a:chExt cx="9613675" cy="12016967"/>
          </a:xfrm>
        </p:grpSpPr>
        <p:sp>
          <p:nvSpPr>
            <p:cNvPr name="Freeform 6" id="6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9476593"/>
            <a:ext cx="10616402" cy="3086100"/>
            <a:chOff x="0" y="0"/>
            <a:chExt cx="2796089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472402" y="-2312364"/>
            <a:ext cx="10616402" cy="3086100"/>
            <a:chOff x="0" y="0"/>
            <a:chExt cx="2796089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aphicFrame>
        <p:nvGraphicFramePr>
          <p:cNvPr name="Object 14" id="14"/>
          <p:cNvGraphicFramePr/>
          <p:nvPr/>
        </p:nvGraphicFramePr>
        <p:xfrm>
          <a:off x="530392" y="2780763"/>
          <a:ext cx="9429750" cy="6286500"/>
        </p:xfrm>
        <a:graphic>
          <a:graphicData uri="http://schemas.openxmlformats.org/presentationml/2006/ole">
            <p:oleObj imgW="11315700" imgH="8166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298578" y="781312"/>
            <a:ext cx="1569084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MATRIZ DE RESPONSABILIDADE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75016" y="3804342"/>
            <a:ext cx="6154370" cy="382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R (Responsible)</a:t>
            </a:r>
            <a:r>
              <a:rPr lang="en-US" sz="28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 → Responsável pela execução.</a:t>
            </a:r>
          </a:p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A (Accountable)</a:t>
            </a:r>
            <a:r>
              <a:rPr lang="en-US" sz="28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 → Responsável final pela entrega.</a:t>
            </a:r>
          </a:p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C (Consulted) </a:t>
            </a:r>
            <a:r>
              <a:rPr lang="en-US" sz="28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→ Consultado, auxilia tecnicamente.</a:t>
            </a:r>
          </a:p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I (Informed)</a:t>
            </a:r>
            <a:r>
              <a:rPr lang="en-US" sz="28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 → Informado sobre o andamento.</a:t>
            </a:r>
          </a:p>
        </p:txBody>
      </p:sp>
    </p:spTree>
  </p:cSld>
  <p:clrMapOvr>
    <a:masterClrMapping/>
  </p:clrMapOvr>
  <p:transition spd="slow">
    <p:push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40474" y="3521651"/>
            <a:ext cx="774763" cy="813800"/>
            <a:chOff x="0" y="0"/>
            <a:chExt cx="812800" cy="8537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40474" y="4502275"/>
            <a:ext cx="774763" cy="813800"/>
            <a:chOff x="0" y="0"/>
            <a:chExt cx="812800" cy="8537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40474" y="5486587"/>
            <a:ext cx="774763" cy="813800"/>
            <a:chOff x="0" y="0"/>
            <a:chExt cx="812800" cy="8537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40474" y="6471838"/>
            <a:ext cx="774763" cy="813800"/>
            <a:chOff x="0" y="0"/>
            <a:chExt cx="812800" cy="8537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4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274539">
            <a:off x="-5052865" y="2436516"/>
            <a:ext cx="8933104" cy="8687444"/>
          </a:xfrm>
          <a:custGeom>
            <a:avLst/>
            <a:gdLst/>
            <a:ahLst/>
            <a:cxnLst/>
            <a:rect r="r" b="b" t="t" l="l"/>
            <a:pathLst>
              <a:path h="8687444" w="8933104">
                <a:moveTo>
                  <a:pt x="0" y="0"/>
                </a:moveTo>
                <a:lnTo>
                  <a:pt x="8933104" y="0"/>
                </a:lnTo>
                <a:lnTo>
                  <a:pt x="8933104" y="8687444"/>
                </a:lnTo>
                <a:lnTo>
                  <a:pt x="0" y="8687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23286" y="4143562"/>
            <a:ext cx="539333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TÓPICOS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41873" y="3723446"/>
            <a:ext cx="3174947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RESUMO 1º SPRINT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39086" y="4642079"/>
            <a:ext cx="3742362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RESUMO 2º SPRINT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21112" y="5658037"/>
            <a:ext cx="5086454" cy="813800"/>
            <a:chOff x="0" y="0"/>
            <a:chExt cx="6781939" cy="108506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1364038" y="281760"/>
              <a:ext cx="5417900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CONCLUSÃO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137886" cy="1085067"/>
              <a:chOff x="0" y="0"/>
              <a:chExt cx="895313" cy="85375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95313" cy="853754"/>
              </a:xfrm>
              <a:custGeom>
                <a:avLst/>
                <a:gdLst/>
                <a:ahLst/>
                <a:cxnLst/>
                <a:rect r="r" b="b" t="t" l="l"/>
                <a:pathLst>
                  <a:path h="853754" w="895313">
                    <a:moveTo>
                      <a:pt x="447657" y="0"/>
                    </a:moveTo>
                    <a:cubicBezTo>
                      <a:pt x="200423" y="0"/>
                      <a:pt x="0" y="191119"/>
                      <a:pt x="0" y="426877"/>
                    </a:cubicBezTo>
                    <a:cubicBezTo>
                      <a:pt x="0" y="662635"/>
                      <a:pt x="200423" y="853754"/>
                      <a:pt x="447657" y="853754"/>
                    </a:cubicBezTo>
                    <a:cubicBezTo>
                      <a:pt x="694890" y="853754"/>
                      <a:pt x="895313" y="662635"/>
                      <a:pt x="895313" y="426877"/>
                    </a:cubicBezTo>
                    <a:cubicBezTo>
                      <a:pt x="895313" y="191119"/>
                      <a:pt x="694890" y="0"/>
                      <a:pt x="44765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3936" y="41939"/>
                <a:ext cx="727442" cy="731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8</a:t>
                </a:r>
              </a:p>
            </p:txBody>
          </p:sp>
        </p:grpSp>
      </p:grpSp>
      <p:sp>
        <p:nvSpPr>
          <p:cNvPr name="Freeform 23" id="23"/>
          <p:cNvSpPr/>
          <p:nvPr/>
        </p:nvSpPr>
        <p:spPr>
          <a:xfrm flipH="false" flipV="false" rot="1911017">
            <a:off x="12792748" y="-6935882"/>
            <a:ext cx="8933104" cy="8687444"/>
          </a:xfrm>
          <a:custGeom>
            <a:avLst/>
            <a:gdLst/>
            <a:ahLst/>
            <a:cxnLst/>
            <a:rect r="r" b="b" t="t" l="l"/>
            <a:pathLst>
              <a:path h="8687444" w="8933104">
                <a:moveTo>
                  <a:pt x="0" y="0"/>
                </a:moveTo>
                <a:lnTo>
                  <a:pt x="8933104" y="0"/>
                </a:lnTo>
                <a:lnTo>
                  <a:pt x="8933104" y="8687444"/>
                </a:lnTo>
                <a:lnTo>
                  <a:pt x="0" y="8687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240474" y="7457088"/>
            <a:ext cx="774763" cy="813800"/>
            <a:chOff x="0" y="0"/>
            <a:chExt cx="812800" cy="8537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5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266289" y="7493418"/>
            <a:ext cx="4203448" cy="73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PROTÓTIPO ARDUINO MONTADO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90601" y="6671863"/>
            <a:ext cx="415482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INTERFACES DO SISTEMA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39086" y="5657856"/>
            <a:ext cx="3742362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OBJETIVO E JUSTIFICATIVA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421112" y="3521651"/>
            <a:ext cx="774763" cy="813800"/>
            <a:chOff x="0" y="0"/>
            <a:chExt cx="812800" cy="8537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6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3519725" y="3542471"/>
            <a:ext cx="4187634" cy="73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MODELO 3D (DISPOSIÇÃO DAS TRAVAS)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421112" y="4607289"/>
            <a:ext cx="5056481" cy="813800"/>
            <a:chOff x="0" y="0"/>
            <a:chExt cx="6741974" cy="108506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33017" cy="1085067"/>
              <a:chOff x="0" y="0"/>
              <a:chExt cx="812800" cy="85375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53754"/>
              </a:xfrm>
              <a:custGeom>
                <a:avLst/>
                <a:gdLst/>
                <a:ahLst/>
                <a:cxnLst/>
                <a:rect r="r" b="b" t="t" l="l"/>
                <a:pathLst>
                  <a:path h="853754" w="812800">
                    <a:moveTo>
                      <a:pt x="406400" y="0"/>
                    </a:moveTo>
                    <a:cubicBezTo>
                      <a:pt x="181951" y="0"/>
                      <a:pt x="0" y="191119"/>
                      <a:pt x="0" y="426877"/>
                    </a:cubicBezTo>
                    <a:cubicBezTo>
                      <a:pt x="0" y="662635"/>
                      <a:pt x="181951" y="853754"/>
                      <a:pt x="406400" y="853754"/>
                    </a:cubicBezTo>
                    <a:cubicBezTo>
                      <a:pt x="630849" y="853754"/>
                      <a:pt x="812800" y="662635"/>
                      <a:pt x="812800" y="426877"/>
                    </a:cubicBezTo>
                    <a:cubicBezTo>
                      <a:pt x="812800" y="19111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41939"/>
                <a:ext cx="660400" cy="731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7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464817" y="281760"/>
              <a:ext cx="5277158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MANUFATURAS</a:t>
              </a:r>
            </a:p>
          </p:txBody>
        </p:sp>
      </p:grpSp>
    </p:spTree>
  </p:cSld>
  <p:clrMapOvr>
    <a:masterClrMapping/>
  </p:clrMapOvr>
  <p:transition spd="slow">
    <p:push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638555">
            <a:off x="-3005357" y="8039889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2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2" y="3604873"/>
                </a:lnTo>
                <a:lnTo>
                  <a:pt x="36048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9313" y="1066800"/>
            <a:ext cx="1137364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5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RESUMO 1º SPRINT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8374" y="2066925"/>
            <a:ext cx="8781208" cy="729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999" b="true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Problemas: 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Extravio e falta de rastreabilidade das ferramentas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Registros manuais imprecisos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Riscos à segurança operacional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  <a:r>
              <a:rPr lang="en-US" b="true" sz="29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Solução: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Sistema com leitor NFC para autenticação de operadores e registro digital de retirada/devolução.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Identificação única das ferramentas (ID).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Software em PC para interface com o usuário.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2638555">
            <a:off x="-3186419" y="5889686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3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3" y="3604873"/>
                </a:lnTo>
                <a:lnTo>
                  <a:pt x="36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2638555">
            <a:off x="-3341614" y="3611229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3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3" y="3604873"/>
                </a:lnTo>
                <a:lnTo>
                  <a:pt x="36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2638555">
            <a:off x="-3341614" y="1487430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3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3" y="3604873"/>
                </a:lnTo>
                <a:lnTo>
                  <a:pt x="36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2638555">
            <a:off x="-3496809" y="-662235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2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2" y="3604873"/>
                </a:lnTo>
                <a:lnTo>
                  <a:pt x="36048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15449" y="529463"/>
            <a:ext cx="523501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Mateus Aparecido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777021" y="2066925"/>
            <a:ext cx="7973438" cy="617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999" b="true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esperados: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Rastreabilidade total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Redução de perdas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elhoria na eficiência e segurança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Ba</a:t>
            </a: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se tecnológica para futuras expansões (como travas eletrônicas aut</a:t>
            </a: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omáticas)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  <a:r>
              <a:rPr lang="en-US" b="true" sz="29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Orçamento estimado (1ª sprint)</a:t>
            </a: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R$ 1.700,00 a R$ 2.750,00(Leitor NFC, tags, PC e software open source)</a:t>
            </a:r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4816" y="952500"/>
            <a:ext cx="1282289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RESUMO 2º SPRINT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85013" y="9692531"/>
            <a:ext cx="9929013" cy="3086100"/>
            <a:chOff x="0" y="0"/>
            <a:chExt cx="261504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15049" cy="812800"/>
            </a:xfrm>
            <a:custGeom>
              <a:avLst/>
              <a:gdLst/>
              <a:ahLst/>
              <a:cxnLst/>
              <a:rect r="r" b="b" t="t" l="l"/>
              <a:pathLst>
                <a:path h="812800" w="2615049">
                  <a:moveTo>
                    <a:pt x="77973" y="0"/>
                  </a:moveTo>
                  <a:lnTo>
                    <a:pt x="2537076" y="0"/>
                  </a:lnTo>
                  <a:cubicBezTo>
                    <a:pt x="2580139" y="0"/>
                    <a:pt x="2615049" y="34910"/>
                    <a:pt x="2615049" y="77973"/>
                  </a:cubicBezTo>
                  <a:lnTo>
                    <a:pt x="2615049" y="734827"/>
                  </a:lnTo>
                  <a:cubicBezTo>
                    <a:pt x="2615049" y="777890"/>
                    <a:pt x="2580139" y="812800"/>
                    <a:pt x="2537076" y="812800"/>
                  </a:cubicBezTo>
                  <a:lnTo>
                    <a:pt x="77973" y="812800"/>
                  </a:lnTo>
                  <a:cubicBezTo>
                    <a:pt x="34910" y="812800"/>
                    <a:pt x="0" y="777890"/>
                    <a:pt x="0" y="734827"/>
                  </a:cubicBezTo>
                  <a:lnTo>
                    <a:pt x="0" y="77973"/>
                  </a:lnTo>
                  <a:cubicBezTo>
                    <a:pt x="0" y="34910"/>
                    <a:pt x="34910" y="0"/>
                    <a:pt x="77973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6150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- 2</a:t>
            </a:r>
          </a:p>
        </p:txBody>
      </p:sp>
      <p:sp>
        <p:nvSpPr>
          <p:cNvPr name="AutoShape 8" id="8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824050" y="2962275"/>
            <a:ext cx="16639899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foco do projeto na 2º sprint foi a preparação e pesquisa para o desenvolvimento do sistema físico de controle de acesso por meio de uma trava eletrônica solenoide, controlada por um Arduino e acionada através da autenticação NFC dos operadores.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sistema permite que apenas operadores previamente cadastrados possam liberar o compartimento de ferramentas, fortalecendo a segurança e a rastreabilidade de uso.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15449" y="529463"/>
            <a:ext cx="523501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Mateus Aparecido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4816" y="952500"/>
            <a:ext cx="12822894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E JUSTIFICATIVA 3º SPRINT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84458" y="3257550"/>
            <a:ext cx="8460755" cy="576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Justificativa: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integração é essencial para transformar os módulos isolados construídos nas sprints anteriores em um sistema funcional e unificado.</a:t>
            </a: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Apenas com a junção desses dois componentes (banco e o hardware) será possível obter rastreabilidade em tempo real, segurança operacional ampliada e automação completa do processo de controle de ferramentas.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785013" y="9692531"/>
            <a:ext cx="9929013" cy="3086100"/>
            <a:chOff x="0" y="0"/>
            <a:chExt cx="2615049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15049" cy="812800"/>
            </a:xfrm>
            <a:custGeom>
              <a:avLst/>
              <a:gdLst/>
              <a:ahLst/>
              <a:cxnLst/>
              <a:rect r="r" b="b" t="t" l="l"/>
              <a:pathLst>
                <a:path h="812800" w="2615049">
                  <a:moveTo>
                    <a:pt x="77973" y="0"/>
                  </a:moveTo>
                  <a:lnTo>
                    <a:pt x="2537076" y="0"/>
                  </a:lnTo>
                  <a:cubicBezTo>
                    <a:pt x="2580139" y="0"/>
                    <a:pt x="2615049" y="34910"/>
                    <a:pt x="2615049" y="77973"/>
                  </a:cubicBezTo>
                  <a:lnTo>
                    <a:pt x="2615049" y="734827"/>
                  </a:lnTo>
                  <a:cubicBezTo>
                    <a:pt x="2615049" y="777890"/>
                    <a:pt x="2580139" y="812800"/>
                    <a:pt x="2537076" y="812800"/>
                  </a:cubicBezTo>
                  <a:lnTo>
                    <a:pt x="77973" y="812800"/>
                  </a:lnTo>
                  <a:cubicBezTo>
                    <a:pt x="34910" y="812800"/>
                    <a:pt x="0" y="777890"/>
                    <a:pt x="0" y="734827"/>
                  </a:cubicBezTo>
                  <a:lnTo>
                    <a:pt x="0" y="77973"/>
                  </a:lnTo>
                  <a:cubicBezTo>
                    <a:pt x="0" y="34910"/>
                    <a:pt x="34910" y="0"/>
                    <a:pt x="77973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150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52035" y="529463"/>
            <a:ext cx="471656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Kaua Yuri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11987" y="3228975"/>
            <a:ext cx="8432013" cy="546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Objetivo: 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Integrar o banco de dados desenvolvido na 1ª sprint com o sistema físico criado na 2ª sprint, permitindo que o protótipo com Arduino e trava eletrônica funcione de forma totalmente sincronizada com o registro digital de movimentações e controle dos operadores. 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objetivo é consolidar um sistema completo de controle de acesso que registre automaticamente cada retirada e devolução de ferramentas por meio da autenticação NFC.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512" y="1021159"/>
            <a:ext cx="175187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INTERFACE DE MONITORAMENTO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362970" y="-2961655"/>
            <a:ext cx="7210257" cy="9012725"/>
            <a:chOff x="0" y="0"/>
            <a:chExt cx="9613675" cy="12016967"/>
          </a:xfrm>
        </p:grpSpPr>
        <p:sp>
          <p:nvSpPr>
            <p:cNvPr name="Freeform 4" id="4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7" id="7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6512" y="527200"/>
            <a:ext cx="17518700" cy="531576"/>
            <a:chOff x="0" y="0"/>
            <a:chExt cx="23358267" cy="708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612599" y="25242"/>
              <a:ext cx="6338688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Vinícius Santos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0" y="6833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613355" y="2304976"/>
            <a:ext cx="13345015" cy="7492190"/>
          </a:xfrm>
          <a:custGeom>
            <a:avLst/>
            <a:gdLst/>
            <a:ahLst/>
            <a:cxnLst/>
            <a:rect r="r" b="b" t="t" l="l"/>
            <a:pathLst>
              <a:path h="7492190" w="13345015">
                <a:moveTo>
                  <a:pt x="0" y="0"/>
                </a:moveTo>
                <a:lnTo>
                  <a:pt x="13345015" y="0"/>
                </a:lnTo>
                <a:lnTo>
                  <a:pt x="13345015" y="7492189"/>
                </a:lnTo>
                <a:lnTo>
                  <a:pt x="0" y="7492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" t="0" r="-1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26512" y="9768590"/>
            <a:ext cx="3361134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*Valores e dados fictícios*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512" y="1021159"/>
            <a:ext cx="175187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INTERFACE DE MONITORAMENTO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362970" y="-2961655"/>
            <a:ext cx="7210257" cy="9012725"/>
            <a:chOff x="0" y="0"/>
            <a:chExt cx="9613675" cy="12016967"/>
          </a:xfrm>
        </p:grpSpPr>
        <p:sp>
          <p:nvSpPr>
            <p:cNvPr name="Freeform 4" id="4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7" id="7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6512" y="527200"/>
            <a:ext cx="17518700" cy="531576"/>
            <a:chOff x="0" y="0"/>
            <a:chExt cx="23358267" cy="708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612599" y="25242"/>
              <a:ext cx="6338688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Vinícius Santos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0" y="6833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33629" y="2497098"/>
            <a:ext cx="13904468" cy="7107944"/>
          </a:xfrm>
          <a:custGeom>
            <a:avLst/>
            <a:gdLst/>
            <a:ahLst/>
            <a:cxnLst/>
            <a:rect r="r" b="b" t="t" l="l"/>
            <a:pathLst>
              <a:path h="7107944" w="13904468">
                <a:moveTo>
                  <a:pt x="0" y="0"/>
                </a:moveTo>
                <a:lnTo>
                  <a:pt x="13904467" y="0"/>
                </a:lnTo>
                <a:lnTo>
                  <a:pt x="13904467" y="7107945"/>
                </a:lnTo>
                <a:lnTo>
                  <a:pt x="0" y="71079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9546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26512" y="9768590"/>
            <a:ext cx="3361134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*Valores e dados fictícios*</a:t>
            </a:r>
          </a:p>
        </p:txBody>
      </p:sp>
    </p:spTree>
  </p:cSld>
  <p:clrMapOvr>
    <a:masterClrMapping/>
  </p:clrMapOvr>
  <p:transition spd="slow">
    <p:push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512" y="1021159"/>
            <a:ext cx="175187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INTERFACE ESTOQUE FERRAMENTAL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362970" y="-2961655"/>
            <a:ext cx="7210257" cy="9012725"/>
            <a:chOff x="0" y="0"/>
            <a:chExt cx="9613675" cy="12016967"/>
          </a:xfrm>
        </p:grpSpPr>
        <p:sp>
          <p:nvSpPr>
            <p:cNvPr name="Freeform 4" id="4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7" id="7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6512" y="527200"/>
            <a:ext cx="17518700" cy="531576"/>
            <a:chOff x="0" y="0"/>
            <a:chExt cx="23358267" cy="708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612599" y="25242"/>
              <a:ext cx="6338688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Vinícius Santos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0" y="6833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439818" y="2240359"/>
            <a:ext cx="11848182" cy="8008541"/>
          </a:xfrm>
          <a:custGeom>
            <a:avLst/>
            <a:gdLst/>
            <a:ahLst/>
            <a:cxnLst/>
            <a:rect r="r" b="b" t="t" l="l"/>
            <a:pathLst>
              <a:path h="8008541" w="11848182">
                <a:moveTo>
                  <a:pt x="0" y="0"/>
                </a:moveTo>
                <a:lnTo>
                  <a:pt x="11848182" y="0"/>
                </a:lnTo>
                <a:lnTo>
                  <a:pt x="11848182" y="8008541"/>
                </a:lnTo>
                <a:lnTo>
                  <a:pt x="0" y="80085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45" r="0" b="-343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41925" y="4926013"/>
            <a:ext cx="3361134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*Valores e dados fictícios*</a:t>
            </a:r>
          </a:p>
        </p:txBody>
      </p:sp>
    </p:spTree>
  </p:cSld>
  <p:clrMapOvr>
    <a:masterClrMapping/>
  </p:clrMapOvr>
  <p:transition spd="slow">
    <p:push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785" y="2240359"/>
            <a:ext cx="17705427" cy="7908975"/>
          </a:xfrm>
          <a:custGeom>
            <a:avLst/>
            <a:gdLst/>
            <a:ahLst/>
            <a:cxnLst/>
            <a:rect r="r" b="b" t="t" l="l"/>
            <a:pathLst>
              <a:path h="7908975" w="17705427">
                <a:moveTo>
                  <a:pt x="0" y="0"/>
                </a:moveTo>
                <a:lnTo>
                  <a:pt x="17705427" y="0"/>
                </a:lnTo>
                <a:lnTo>
                  <a:pt x="17705427" y="7908975"/>
                </a:lnTo>
                <a:lnTo>
                  <a:pt x="0" y="7908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7" r="0" b="-117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62970" y="-2961655"/>
            <a:ext cx="7210257" cy="9012725"/>
            <a:chOff x="0" y="0"/>
            <a:chExt cx="9613675" cy="12016967"/>
          </a:xfrm>
        </p:grpSpPr>
        <p:sp>
          <p:nvSpPr>
            <p:cNvPr name="Freeform 4" id="4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7" id="7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6512" y="527200"/>
            <a:ext cx="17518700" cy="531576"/>
            <a:chOff x="0" y="0"/>
            <a:chExt cx="23358267" cy="708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612599" y="25242"/>
              <a:ext cx="6338688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Vinícius Santos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0" y="6833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279756" y="1021159"/>
            <a:ext cx="1208321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ESQUEMA </a:t>
            </a:r>
          </a:p>
        </p:txBody>
      </p:sp>
    </p:spTree>
  </p:cSld>
  <p:clrMapOvr>
    <a:masterClrMapping/>
  </p:clrMapOvr>
  <p:transition spd="slow">
    <p:push dir="d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62970" y="-2961655"/>
            <a:ext cx="7210257" cy="9012725"/>
            <a:chOff x="0" y="0"/>
            <a:chExt cx="9613675" cy="12016967"/>
          </a:xfrm>
        </p:grpSpPr>
        <p:sp>
          <p:nvSpPr>
            <p:cNvPr name="Freeform 3" id="3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6" id="6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6512" y="527200"/>
            <a:ext cx="17518700" cy="531576"/>
            <a:chOff x="0" y="0"/>
            <a:chExt cx="23358267" cy="708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6612599" y="25242"/>
              <a:ext cx="6338688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Vinícius Santos</a:t>
              </a:r>
            </a:p>
          </p:txBody>
        </p:sp>
        <p:sp>
          <p:nvSpPr>
            <p:cNvPr name="AutoShape 12" id="12"/>
            <p:cNvSpPr/>
            <p:nvPr/>
          </p:nvSpPr>
          <p:spPr>
            <a:xfrm>
              <a:off x="0" y="6833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917997" y="2719556"/>
            <a:ext cx="14806731" cy="6663029"/>
          </a:xfrm>
          <a:custGeom>
            <a:avLst/>
            <a:gdLst/>
            <a:ahLst/>
            <a:cxnLst/>
            <a:rect r="r" b="b" t="t" l="l"/>
            <a:pathLst>
              <a:path h="6663029" w="14806731">
                <a:moveTo>
                  <a:pt x="0" y="0"/>
                </a:moveTo>
                <a:lnTo>
                  <a:pt x="14806732" y="0"/>
                </a:lnTo>
                <a:lnTo>
                  <a:pt x="14806732" y="6663029"/>
                </a:lnTo>
                <a:lnTo>
                  <a:pt x="0" y="66630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79756" y="1021159"/>
            <a:ext cx="1208321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PROTÓTIPO MONTADO</a:t>
            </a:r>
          </a:p>
        </p:txBody>
      </p:sp>
    </p:spTree>
  </p:cSld>
  <p:clrMapOvr>
    <a:masterClrMapping/>
  </p:clrMapOvr>
  <p:transition spd="slow">
    <p:push dir="d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01208" y="585701"/>
            <a:ext cx="478223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4" id="4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337886" y="3042017"/>
            <a:ext cx="4026194" cy="6216283"/>
          </a:xfrm>
          <a:custGeom>
            <a:avLst/>
            <a:gdLst/>
            <a:ahLst/>
            <a:cxnLst/>
            <a:rect r="r" b="b" t="t" l="l"/>
            <a:pathLst>
              <a:path h="6216283" w="4026194">
                <a:moveTo>
                  <a:pt x="0" y="0"/>
                </a:moveTo>
                <a:lnTo>
                  <a:pt x="4026195" y="0"/>
                </a:lnTo>
                <a:lnTo>
                  <a:pt x="4026195" y="6216283"/>
                </a:lnTo>
                <a:lnTo>
                  <a:pt x="0" y="621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721" t="-44827" r="-14968" b="-4039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8522" y="1057994"/>
            <a:ext cx="16950956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3D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08436" y="9220200"/>
            <a:ext cx="4685094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Imagem do Carrinho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148" y="545973"/>
            <a:ext cx="232643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966569" y="3022967"/>
            <a:ext cx="4069280" cy="6254383"/>
          </a:xfrm>
          <a:custGeom>
            <a:avLst/>
            <a:gdLst/>
            <a:ahLst/>
            <a:cxnLst/>
            <a:rect r="r" b="b" t="t" l="l"/>
            <a:pathLst>
              <a:path h="6254383" w="4069280">
                <a:moveTo>
                  <a:pt x="0" y="0"/>
                </a:moveTo>
                <a:lnTo>
                  <a:pt x="4069279" y="0"/>
                </a:lnTo>
                <a:lnTo>
                  <a:pt x="4069279" y="6254383"/>
                </a:lnTo>
                <a:lnTo>
                  <a:pt x="0" y="6254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850" t="-2555" r="-24013" b="-117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58662" y="9220200"/>
            <a:ext cx="4685094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Modelo 3D com Travas</a:t>
            </a:r>
          </a:p>
        </p:txBody>
      </p:sp>
    </p:spTree>
  </p:cSld>
  <p:clrMapOvr>
    <a:masterClrMapping/>
  </p:clrMapOvr>
  <p:transition spd="slow">
    <p:push dir="d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01208" y="585701"/>
            <a:ext cx="478223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4" id="4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079174" y="3041805"/>
            <a:ext cx="4741549" cy="6429135"/>
          </a:xfrm>
          <a:custGeom>
            <a:avLst/>
            <a:gdLst/>
            <a:ahLst/>
            <a:cxnLst/>
            <a:rect r="r" b="b" t="t" l="l"/>
            <a:pathLst>
              <a:path h="6429135" w="4741549">
                <a:moveTo>
                  <a:pt x="0" y="0"/>
                </a:moveTo>
                <a:lnTo>
                  <a:pt x="4741548" y="0"/>
                </a:lnTo>
                <a:lnTo>
                  <a:pt x="4741548" y="6429134"/>
                </a:lnTo>
                <a:lnTo>
                  <a:pt x="0" y="6429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999" t="-17325" r="-115831" b="-1696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82257" y="3041805"/>
            <a:ext cx="8657053" cy="6429135"/>
          </a:xfrm>
          <a:custGeom>
            <a:avLst/>
            <a:gdLst/>
            <a:ahLst/>
            <a:cxnLst/>
            <a:rect r="r" b="b" t="t" l="l"/>
            <a:pathLst>
              <a:path h="6429135" w="8657053">
                <a:moveTo>
                  <a:pt x="0" y="0"/>
                </a:moveTo>
                <a:lnTo>
                  <a:pt x="8657053" y="0"/>
                </a:lnTo>
                <a:lnTo>
                  <a:pt x="8657053" y="6429134"/>
                </a:lnTo>
                <a:lnTo>
                  <a:pt x="0" y="6429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8522" y="1057994"/>
            <a:ext cx="16950956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3D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148" y="545973"/>
            <a:ext cx="232643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01208" y="585701"/>
            <a:ext cx="478223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4" id="4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961768" y="1480457"/>
            <a:ext cx="3297532" cy="8469630"/>
          </a:xfrm>
          <a:custGeom>
            <a:avLst/>
            <a:gdLst/>
            <a:ahLst/>
            <a:cxnLst/>
            <a:rect r="r" b="b" t="t" l="l"/>
            <a:pathLst>
              <a:path h="8469630" w="3297532">
                <a:moveTo>
                  <a:pt x="0" y="0"/>
                </a:moveTo>
                <a:lnTo>
                  <a:pt x="3297532" y="0"/>
                </a:lnTo>
                <a:lnTo>
                  <a:pt x="3297532" y="8469630"/>
                </a:lnTo>
                <a:lnTo>
                  <a:pt x="0" y="8469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0821" t="-94145" r="-635848" b="-10503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6959" y="2064867"/>
            <a:ext cx="13361996" cy="810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Chapa de Suporte das Travas: </a:t>
            </a:r>
          </a:p>
          <a:p>
            <a:pPr algn="l">
              <a:lnSpc>
                <a:spcPts val="3769"/>
              </a:lnSpc>
              <a:spcBef>
                <a:spcPct val="0"/>
              </a:spcBef>
            </a:pPr>
          </a:p>
          <a:p>
            <a:pPr algn="l">
              <a:lnSpc>
                <a:spcPts val="376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Foi adicionada uma chapa de aço carbono na lateral direita do gabinete, com as seguintes dimensões:</a:t>
            </a:r>
          </a:p>
          <a:p>
            <a:pPr algn="l" marL="626109" indent="-313054" lvl="1">
              <a:lnSpc>
                <a:spcPts val="376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Comprimento: 1050 mm</a:t>
            </a:r>
          </a:p>
          <a:p>
            <a:pPr algn="l" marL="626109" indent="-313054" lvl="1">
              <a:lnSpc>
                <a:spcPts val="376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Largura: 30 mm</a:t>
            </a:r>
          </a:p>
          <a:p>
            <a:pPr algn="l" marL="626109" indent="-313054" lvl="1">
              <a:lnSpc>
                <a:spcPts val="376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Espessura: 2 mm</a:t>
            </a:r>
          </a:p>
          <a:p>
            <a:pPr algn="l">
              <a:lnSpc>
                <a:spcPts val="376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Essa chapa foi fixada diretamente na estrutura lateral do carrinho.</a:t>
            </a:r>
          </a:p>
          <a:p>
            <a:pPr algn="l">
              <a:lnSpc>
                <a:spcPts val="3769"/>
              </a:lnSpc>
              <a:spcBef>
                <a:spcPct val="0"/>
              </a:spcBef>
            </a:pPr>
          </a:p>
          <a:p>
            <a:pPr algn="l">
              <a:lnSpc>
                <a:spcPts val="376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processo de instalação envolveu:</a:t>
            </a:r>
          </a:p>
          <a:p>
            <a:pPr algn="l" marL="626109" indent="-313054" lvl="1">
              <a:lnSpc>
                <a:spcPts val="376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Marcação do alinhamento das travas ao longo da lateral;</a:t>
            </a:r>
          </a:p>
          <a:p>
            <a:pPr algn="l" marL="626109" indent="-313054" lvl="1">
              <a:lnSpc>
                <a:spcPts val="376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Furação da chapa e da estrutura do carrinho;</a:t>
            </a:r>
          </a:p>
          <a:p>
            <a:pPr algn="l" marL="626109" indent="-313054" lvl="1">
              <a:lnSpc>
                <a:spcPts val="376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Fixação com parafusos e porcas nas cantoneiras(4 de 25x25mm), garantindo rigidez;</a:t>
            </a:r>
          </a:p>
          <a:p>
            <a:pPr algn="l" marL="626109" indent="-313054" lvl="1">
              <a:lnSpc>
                <a:spcPts val="376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Conferência do alinhamento para que todas as solenoides funcionem corretamente.</a:t>
            </a:r>
          </a:p>
          <a:p>
            <a:pPr algn="l">
              <a:lnSpc>
                <a:spcPts val="376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Ela serve como base única para suportar todas as travas das gavetas.</a:t>
            </a:r>
          </a:p>
        </p:txBody>
      </p:sp>
      <p:grpSp>
        <p:nvGrpSpPr>
          <p:cNvPr name="Group 7" id="7"/>
          <p:cNvGrpSpPr/>
          <p:nvPr/>
        </p:nvGrpSpPr>
        <p:grpSpPr>
          <a:xfrm rot="1991886">
            <a:off x="11410444" y="4012566"/>
            <a:ext cx="4084313" cy="2673984"/>
            <a:chOff x="0" y="0"/>
            <a:chExt cx="1075704" cy="7042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5704" cy="704259"/>
            </a:xfrm>
            <a:custGeom>
              <a:avLst/>
              <a:gdLst/>
              <a:ahLst/>
              <a:cxnLst/>
              <a:rect r="r" b="b" t="t" l="l"/>
              <a:pathLst>
                <a:path h="704259" w="1075704">
                  <a:moveTo>
                    <a:pt x="1075704" y="352130"/>
                  </a:moveTo>
                  <a:lnTo>
                    <a:pt x="669304" y="0"/>
                  </a:lnTo>
                  <a:lnTo>
                    <a:pt x="669304" y="203200"/>
                  </a:lnTo>
                  <a:lnTo>
                    <a:pt x="0" y="203200"/>
                  </a:lnTo>
                  <a:lnTo>
                    <a:pt x="0" y="501059"/>
                  </a:lnTo>
                  <a:lnTo>
                    <a:pt x="669304" y="501059"/>
                  </a:lnTo>
                  <a:lnTo>
                    <a:pt x="669304" y="704259"/>
                  </a:lnTo>
                  <a:lnTo>
                    <a:pt x="1075704" y="35213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36525"/>
              <a:ext cx="974104" cy="364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CHAPA DE AÇO CARBONO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8522" y="911707"/>
            <a:ext cx="16950956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MANUFATURA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4148" y="545973"/>
            <a:ext cx="232643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01208" y="585701"/>
            <a:ext cx="478223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4" id="4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471618" y="2527745"/>
            <a:ext cx="6294311" cy="6730555"/>
          </a:xfrm>
          <a:custGeom>
            <a:avLst/>
            <a:gdLst/>
            <a:ahLst/>
            <a:cxnLst/>
            <a:rect r="r" b="b" t="t" l="l"/>
            <a:pathLst>
              <a:path h="6730555" w="6294311">
                <a:moveTo>
                  <a:pt x="0" y="0"/>
                </a:moveTo>
                <a:lnTo>
                  <a:pt x="6294311" y="0"/>
                </a:lnTo>
                <a:lnTo>
                  <a:pt x="6294311" y="6730555"/>
                </a:lnTo>
                <a:lnTo>
                  <a:pt x="0" y="6730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643" t="0" r="-61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8522" y="877801"/>
            <a:ext cx="16950956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MANUFATURA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4148" y="545973"/>
            <a:ext cx="232643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6512" y="2239876"/>
            <a:ext cx="10945106" cy="687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 Caixa superior de madeira para alojar os componentes elet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rônicos</a:t>
            </a:r>
          </a:p>
          <a:p>
            <a:pPr algn="l">
              <a:lnSpc>
                <a:spcPts val="3639"/>
              </a:lnSpc>
            </a:pP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ocultar e proteger o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eletrônico, foi instalada uma caixa compacta na parte superior direita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 gabinete com parafusos.</a:t>
            </a:r>
          </a:p>
          <a:p>
            <a:pPr algn="l">
              <a:lnSpc>
                <a:spcPts val="3639"/>
              </a:lnSpc>
            </a:pP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Dimensões: 100 mm de largura × 150 mm de comprimento × 50 mm de altura.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Essa caixa serve como compartimento técnico, permitindo: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Organização interna dos cabos;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Acessibilidade para manutenção;</a:t>
            </a:r>
          </a:p>
          <a:p>
            <a:pPr algn="l" marL="604519" indent="-302260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Proteção contr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poeira e contato acidental;</a:t>
            </a:r>
          </a:p>
          <a:p>
            <a:pPr algn="l" marL="604519" indent="-302260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Aparência mais limpa e profissional do conjunto.</a:t>
            </a:r>
          </a:p>
        </p:txBody>
      </p:sp>
      <p:grpSp>
        <p:nvGrpSpPr>
          <p:cNvPr name="Group 9" id="9"/>
          <p:cNvGrpSpPr/>
          <p:nvPr/>
        </p:nvGrpSpPr>
        <p:grpSpPr>
          <a:xfrm rot="1991886">
            <a:off x="11216347" y="3139809"/>
            <a:ext cx="4084313" cy="2673984"/>
            <a:chOff x="0" y="0"/>
            <a:chExt cx="1075704" cy="7042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5704" cy="704259"/>
            </a:xfrm>
            <a:custGeom>
              <a:avLst/>
              <a:gdLst/>
              <a:ahLst/>
              <a:cxnLst/>
              <a:rect r="r" b="b" t="t" l="l"/>
              <a:pathLst>
                <a:path h="704259" w="1075704">
                  <a:moveTo>
                    <a:pt x="1075704" y="352130"/>
                  </a:moveTo>
                  <a:lnTo>
                    <a:pt x="669304" y="0"/>
                  </a:lnTo>
                  <a:lnTo>
                    <a:pt x="669304" y="203200"/>
                  </a:lnTo>
                  <a:lnTo>
                    <a:pt x="0" y="203200"/>
                  </a:lnTo>
                  <a:lnTo>
                    <a:pt x="0" y="501059"/>
                  </a:lnTo>
                  <a:lnTo>
                    <a:pt x="669304" y="501059"/>
                  </a:lnTo>
                  <a:lnTo>
                    <a:pt x="669304" y="704259"/>
                  </a:lnTo>
                  <a:lnTo>
                    <a:pt x="1075704" y="35213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36525"/>
              <a:ext cx="974104" cy="364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CAIXA DOS COMPONENTES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37903" y="-4267891"/>
            <a:ext cx="7210257" cy="9012725"/>
            <a:chOff x="0" y="0"/>
            <a:chExt cx="9613675" cy="12016967"/>
          </a:xfrm>
        </p:grpSpPr>
        <p:sp>
          <p:nvSpPr>
            <p:cNvPr name="Freeform 3" id="3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6" id="6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4250" y="1093448"/>
            <a:ext cx="1640505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CONCLUSÃO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8108" y="3495675"/>
            <a:ext cx="16233121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sistema proposto é viável, prático e escalável.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Garante a segurança dos operadores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Garante organização e monitoramento dos operadores e ferramentas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Contribui para a modernização da gestão de ferramentas na produção e manutenção aeronáutica.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 como base para futuras expansões.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14613" y="587375"/>
            <a:ext cx="482571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5238"/>
            <a:ext cx="162306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FONTE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2638555">
            <a:off x="17762800" y="2737143"/>
            <a:ext cx="3838664" cy="3838664"/>
          </a:xfrm>
          <a:custGeom>
            <a:avLst/>
            <a:gdLst/>
            <a:ahLst/>
            <a:cxnLst/>
            <a:rect r="r" b="b" t="t" l="l"/>
            <a:pathLst>
              <a:path h="3838664" w="3838664">
                <a:moveTo>
                  <a:pt x="3838664" y="0"/>
                </a:moveTo>
                <a:lnTo>
                  <a:pt x="0" y="0"/>
                </a:lnTo>
                <a:lnTo>
                  <a:pt x="0" y="3838664"/>
                </a:lnTo>
                <a:lnTo>
                  <a:pt x="3838664" y="3838664"/>
                </a:lnTo>
                <a:lnTo>
                  <a:pt x="38386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638555">
            <a:off x="15980367" y="-847759"/>
            <a:ext cx="3838664" cy="3838664"/>
          </a:xfrm>
          <a:custGeom>
            <a:avLst/>
            <a:gdLst/>
            <a:ahLst/>
            <a:cxnLst/>
            <a:rect r="r" b="b" t="t" l="l"/>
            <a:pathLst>
              <a:path h="3838664" w="3838664">
                <a:moveTo>
                  <a:pt x="3838664" y="0"/>
                </a:moveTo>
                <a:lnTo>
                  <a:pt x="0" y="0"/>
                </a:lnTo>
                <a:lnTo>
                  <a:pt x="0" y="3838664"/>
                </a:lnTo>
                <a:lnTo>
                  <a:pt x="3838664" y="3838664"/>
                </a:lnTo>
                <a:lnTo>
                  <a:pt x="38386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5283" y="2144394"/>
            <a:ext cx="15037433" cy="814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FAZEDORES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5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. Fechadura eletrônica com Arduino e RFID. Disponível em: 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6" tooltip="https://blog.fazedores.com/fechadura-eletronica-com-arduino-e-rfid/"/>
              </a:rPr>
              <a:t>https://blog.fazedores.com/fechadura-eletronica-com-arduino-e-rfid/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7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. Acesso em: 18 out. 2025.</a:t>
            </a:r>
          </a:p>
          <a:p>
            <a:pPr algn="just">
              <a:lnSpc>
                <a:spcPts val="4199"/>
              </a:lnSpc>
            </a:pP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8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MERCADO LIVRE. Trava solenoide 12V para Arduino. Disponível em: 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9" tooltip="https://www.mercadolivre.com.br/trava-fechadura-eletrica-solenoide-12v-para-arduino/up/MLBU1190033542"/>
              </a:rPr>
              <a:t>https://www.mercadolivre.com.br/trava-fechadura-eletrica-solenoide-12v-para-arduino/up/MLBU1190033542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0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. Acesso em: 18 out. 2025.</a:t>
            </a:r>
          </a:p>
          <a:p>
            <a:pPr algn="just">
              <a:lnSpc>
                <a:spcPts val="4199"/>
              </a:lnSpc>
            </a:pP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1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YOUTUBE. Controle de tranca com Arduino e solenoide. Disponível em: 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2" tooltip="https://www.youtube.com/watch?v=0KX-8koO14c"/>
              </a:rPr>
              <a:t>https://www.youtube.com/watch?v=0KX-8koO14c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3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. Acesso em: 18 out. 2025.</a:t>
            </a:r>
          </a:p>
          <a:p>
            <a:pPr algn="just">
              <a:lnSpc>
                <a:spcPts val="4199"/>
              </a:lnSpc>
            </a:pP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https://grabcad.com/library/rc522-rfid-module-1?utm_source=chatgpt.com.</a:t>
            </a:r>
          </a:p>
          <a:p>
            <a:pPr algn="just">
              <a:lnSpc>
                <a:spcPts val="4199"/>
              </a:lnSpc>
            </a:pP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https://www.3dcontentcentral.com/Download-Model.aspx?catalogid=171&amp;id=791229&amp;utm_source=chatgpt.com</a:t>
            </a:r>
          </a:p>
          <a:p>
            <a:pPr algn="just">
              <a:lnSpc>
                <a:spcPts val="2239"/>
              </a:lnSpc>
            </a:pPr>
          </a:p>
        </p:txBody>
      </p:sp>
    </p:spTree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DAGzkZ7BqD0</dc:identifier>
  <dcterms:modified xsi:type="dcterms:W3CDTF">2011-08-01T06:04:30Z</dcterms:modified>
  <cp:revision>1</cp:revision>
  <dc:title>APRESENTAÇÃO  API 3º SPRINT</dc:title>
</cp:coreProperties>
</file>