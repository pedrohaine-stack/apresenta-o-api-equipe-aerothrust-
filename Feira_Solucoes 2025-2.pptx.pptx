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entury Gothic Paneuropean" charset="1" panose="020B0502020202020204"/>
      <p:regular r:id="rId16"/>
    </p:embeddedFont>
    <p:embeddedFont>
      <p:font typeface="Century Gothic Paneuropean Bold" charset="1" panose="020B07020202020202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8100000">
            <a:off x="11144932" y="2870200"/>
            <a:ext cx="8109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8100000">
            <a:off x="7259767" y="4697809"/>
            <a:ext cx="1292595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8100000">
            <a:off x="9301567" y="4057650"/>
            <a:ext cx="1053384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8100000">
            <a:off x="9462449" y="3678634"/>
            <a:ext cx="10362096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8100000">
            <a:off x="10385142" y="4162426"/>
            <a:ext cx="9281093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12214" y="2359383"/>
            <a:ext cx="11609614" cy="2670470"/>
            <a:chOff x="0" y="0"/>
            <a:chExt cx="15479486" cy="35606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79486" cy="3560626"/>
            </a:xfrm>
            <a:custGeom>
              <a:avLst/>
              <a:gdLst/>
              <a:ahLst/>
              <a:cxnLst/>
              <a:rect r="r" b="b" t="t" l="l"/>
              <a:pathLst>
                <a:path h="3560626" w="15479486">
                  <a:moveTo>
                    <a:pt x="0" y="0"/>
                  </a:moveTo>
                  <a:lnTo>
                    <a:pt x="15479486" y="0"/>
                  </a:lnTo>
                  <a:lnTo>
                    <a:pt x="15479486" y="3560626"/>
                  </a:lnTo>
                  <a:lnTo>
                    <a:pt x="0" y="3560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5479486" cy="35606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XII Feira de Soluções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8421" y="5029852"/>
            <a:ext cx="1121452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F496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Control</a:t>
            </a:r>
            <a:r>
              <a:rPr lang="en-US" sz="4200">
                <a:solidFill>
                  <a:srgbClr val="0F496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 Físico de Acesso com RFID e Trava Eletrônica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801674"/>
            <a:ext cx="1827484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sz="4200" spc="30">
                <a:solidFill>
                  <a:srgbClr val="FFFFFF">
                    <a:alpha val="57647"/>
                  </a:srgbClr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Grupo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01396" y="8558528"/>
            <a:ext cx="2974390" cy="8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sz="4200" spc="30">
                <a:solidFill>
                  <a:srgbClr val="F2F2F2">
                    <a:alpha val="57647"/>
                  </a:srgbClr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04/12/2025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20" id="20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629653" y="7169532"/>
            <a:ext cx="5225266" cy="2088768"/>
          </a:xfrm>
          <a:custGeom>
            <a:avLst/>
            <a:gdLst/>
            <a:ahLst/>
            <a:cxnLst/>
            <a:rect r="r" b="b" t="t" l="l"/>
            <a:pathLst>
              <a:path h="2088768" w="5225266">
                <a:moveTo>
                  <a:pt x="0" y="0"/>
                </a:moveTo>
                <a:lnTo>
                  <a:pt x="5225266" y="0"/>
                </a:lnTo>
                <a:lnTo>
                  <a:pt x="5225266" y="2088768"/>
                </a:lnTo>
                <a:lnTo>
                  <a:pt x="0" y="2088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4291" t="-152661" r="-71796" b="-14133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04904" y="302746"/>
            <a:ext cx="13430634" cy="1566364"/>
            <a:chOff x="0" y="0"/>
            <a:chExt cx="17907512" cy="2088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07512" cy="2088486"/>
            </a:xfrm>
            <a:custGeom>
              <a:avLst/>
              <a:gdLst/>
              <a:ahLst/>
              <a:cxnLst/>
              <a:rect r="r" b="b" t="t" l="l"/>
              <a:pathLst>
                <a:path h="2088486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2088486"/>
                  </a:lnTo>
                  <a:lnTo>
                    <a:pt x="0" y="208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907512" cy="20884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000"/>
                </a:lnSpc>
              </a:pPr>
              <a:r>
                <a:rPr lang="en-US" b="true" sz="7500" spc="-148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INTEGRANTES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4090" y="3059736"/>
            <a:ext cx="16979819" cy="4082449"/>
            <a:chOff x="0" y="0"/>
            <a:chExt cx="22639759" cy="544326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432267" y="42909"/>
              <a:ext cx="3822184" cy="3822184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16666" r="0" b="-16666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6369786" y="113439"/>
              <a:ext cx="3865093" cy="3865093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6865" t="0" r="-6865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6067192" y="3911857"/>
              <a:ext cx="4470281" cy="153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b="true" sz="3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Scrum Master</a:t>
              </a: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</a:t>
              </a:r>
            </a:p>
            <a:p>
              <a:pPr algn="ctr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Vinicius Santos 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798418"/>
              <a:ext cx="4686717" cy="153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b="true" sz="3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 Owner</a:t>
              </a: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</a:t>
              </a:r>
            </a:p>
            <a:p>
              <a:pPr algn="ctr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Pedro Henrique 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8698563" y="0"/>
              <a:ext cx="3865093" cy="386509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42855" r="-57509" b="-67157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622459" y="3798418"/>
              <a:ext cx="4017300" cy="153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b="true" sz="3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Scrum Team</a:t>
              </a: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</a:t>
              </a:r>
            </a:p>
            <a:p>
              <a:pPr algn="ctr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Kauã Yuri 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2517846" y="0"/>
              <a:ext cx="3865093" cy="3865093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22776" t="-46118" r="-72961" b="0"/>
                </a:stretch>
              </a:blip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662626" y="3798418"/>
              <a:ext cx="5575533" cy="153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b="true" sz="3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Scrum Team</a:t>
              </a: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: </a:t>
              </a:r>
            </a:p>
            <a:p>
              <a:pPr algn="ctr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Mateus Aparecido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04904" y="302746"/>
            <a:ext cx="13430634" cy="1566364"/>
            <a:chOff x="0" y="0"/>
            <a:chExt cx="17907512" cy="2088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07512" cy="2088486"/>
            </a:xfrm>
            <a:custGeom>
              <a:avLst/>
              <a:gdLst/>
              <a:ahLst/>
              <a:cxnLst/>
              <a:rect r="r" b="b" t="t" l="l"/>
              <a:pathLst>
                <a:path h="2088486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2088486"/>
                  </a:lnTo>
                  <a:lnTo>
                    <a:pt x="0" y="208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907512" cy="20884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000"/>
                </a:lnSpc>
              </a:pPr>
              <a:r>
                <a:rPr lang="en-US" b="true" sz="7500" spc="-148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MATRIZ DE RESPONSABILIDADE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aphicFrame>
        <p:nvGraphicFramePr>
          <p:cNvPr name="Object 13" id="13"/>
          <p:cNvGraphicFramePr/>
          <p:nvPr/>
        </p:nvGraphicFramePr>
        <p:xfrm>
          <a:off x="673905" y="2348366"/>
          <a:ext cx="9429750" cy="6286500"/>
        </p:xfrm>
        <a:graphic>
          <a:graphicData uri="http://schemas.openxmlformats.org/presentationml/2006/ole">
            <p:oleObj imgW="11315700" imgH="81661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1375016" y="3804342"/>
            <a:ext cx="6154370" cy="38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(Responsible)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Responsável pela execução.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(Accountable)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Responsável final pela entrega.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 (Consulted) 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Consultado, auxilia tecnicamente.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 (Informed)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Informado sobre o andamento.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236841"/>
            <a:ext cx="16230600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Tema: Controle Físico de Acesso com RFID e Trava Eletrônica</a:t>
            </a:r>
          </a:p>
          <a:p>
            <a:pPr algn="just">
              <a:lnSpc>
                <a:spcPts val="5759"/>
              </a:lnSpc>
            </a:pPr>
          </a:p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Este projeto propõe automatizar o controle de acesso a um carrinho de ferramentas utilizando RFID, Arduino e trava eletrônica. A justificativa é substituir  o processo manual, feito com registros em papel, que facilita erros e dificulta o rastreamento.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44347" y="8187832"/>
            <a:ext cx="6816497" cy="1622718"/>
            <a:chOff x="0" y="0"/>
            <a:chExt cx="9088662" cy="21636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875" y="15875"/>
              <a:ext cx="9056878" cy="2131822"/>
            </a:xfrm>
            <a:custGeom>
              <a:avLst/>
              <a:gdLst/>
              <a:ahLst/>
              <a:cxnLst/>
              <a:rect r="r" b="b" t="t" l="l"/>
              <a:pathLst>
                <a:path h="2131822" w="9056878">
                  <a:moveTo>
                    <a:pt x="0" y="0"/>
                  </a:moveTo>
                  <a:lnTo>
                    <a:pt x="9056878" y="0"/>
                  </a:lnTo>
                  <a:lnTo>
                    <a:pt x="9056878" y="2131822"/>
                  </a:lnTo>
                  <a:lnTo>
                    <a:pt x="0" y="2131822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88628" cy="2163572"/>
            </a:xfrm>
            <a:custGeom>
              <a:avLst/>
              <a:gdLst/>
              <a:ahLst/>
              <a:cxnLst/>
              <a:rect r="r" b="b" t="t" l="l"/>
              <a:pathLst>
                <a:path h="2163572" w="9088628">
                  <a:moveTo>
                    <a:pt x="15875" y="0"/>
                  </a:moveTo>
                  <a:lnTo>
                    <a:pt x="9072753" y="0"/>
                  </a:lnTo>
                  <a:cubicBezTo>
                    <a:pt x="9081516" y="0"/>
                    <a:pt x="9088628" y="7112"/>
                    <a:pt x="9088628" y="15875"/>
                  </a:cubicBezTo>
                  <a:lnTo>
                    <a:pt x="9088628" y="2147697"/>
                  </a:lnTo>
                  <a:cubicBezTo>
                    <a:pt x="9088628" y="2156460"/>
                    <a:pt x="9081516" y="2163572"/>
                    <a:pt x="9072753" y="2163572"/>
                  </a:cubicBezTo>
                  <a:lnTo>
                    <a:pt x="15875" y="2163572"/>
                  </a:lnTo>
                  <a:cubicBezTo>
                    <a:pt x="7112" y="2163572"/>
                    <a:pt x="0" y="2156460"/>
                    <a:pt x="0" y="2147697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147697"/>
                  </a:lnTo>
                  <a:lnTo>
                    <a:pt x="15875" y="2147697"/>
                  </a:lnTo>
                  <a:lnTo>
                    <a:pt x="15875" y="2131822"/>
                  </a:lnTo>
                  <a:lnTo>
                    <a:pt x="9072753" y="2131822"/>
                  </a:lnTo>
                  <a:lnTo>
                    <a:pt x="9072753" y="2147697"/>
                  </a:lnTo>
                  <a:lnTo>
                    <a:pt x="9056878" y="2147697"/>
                  </a:lnTo>
                  <a:lnTo>
                    <a:pt x="9056878" y="15875"/>
                  </a:lnTo>
                  <a:lnTo>
                    <a:pt x="9072753" y="15875"/>
                  </a:lnTo>
                  <a:lnTo>
                    <a:pt x="9072753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01152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088662" cy="2163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Prof. Rodrigo Elias Pereira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29030" y="302746"/>
            <a:ext cx="13430634" cy="1774304"/>
            <a:chOff x="0" y="0"/>
            <a:chExt cx="17907512" cy="23657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07512" cy="2365739"/>
            </a:xfrm>
            <a:custGeom>
              <a:avLst/>
              <a:gdLst/>
              <a:ahLst/>
              <a:cxnLst/>
              <a:rect r="r" b="b" t="t" l="l"/>
              <a:pathLst>
                <a:path h="2365739" w="17907512">
                  <a:moveTo>
                    <a:pt x="0" y="0"/>
                  </a:moveTo>
                  <a:lnTo>
                    <a:pt x="17907512" y="0"/>
                  </a:lnTo>
                  <a:lnTo>
                    <a:pt x="17907512" y="2365739"/>
                  </a:lnTo>
                  <a:lnTo>
                    <a:pt x="0" y="23657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7907512" cy="236573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000"/>
                </a:lnSpc>
              </a:pPr>
              <a:r>
                <a:rPr lang="en-US" b="true" sz="7500" spc="-137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 DESAFIO</a:t>
              </a: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17" id="17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405987" y="402617"/>
            <a:ext cx="14649617" cy="2044168"/>
            <a:chOff x="0" y="0"/>
            <a:chExt cx="19532823" cy="27255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CRIAÇÃO DE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INTERFACE DE M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ONITORAMENTO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12" id="12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900116" y="2446786"/>
            <a:ext cx="12743107" cy="7183927"/>
          </a:xfrm>
          <a:custGeom>
            <a:avLst/>
            <a:gdLst/>
            <a:ahLst/>
            <a:cxnLst/>
            <a:rect r="r" b="b" t="t" l="l"/>
            <a:pathLst>
              <a:path h="7183927" w="12743107">
                <a:moveTo>
                  <a:pt x="0" y="0"/>
                </a:moveTo>
                <a:lnTo>
                  <a:pt x="12743107" y="0"/>
                </a:lnTo>
                <a:lnTo>
                  <a:pt x="12743107" y="7183926"/>
                </a:lnTo>
                <a:lnTo>
                  <a:pt x="0" y="7183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8704" y="9769395"/>
            <a:ext cx="346218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*Valores e dados fictícios*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6350070" y="5382035"/>
            <a:ext cx="1947864" cy="194786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9" id="9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8704" y="9769395"/>
            <a:ext cx="346218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*Valores e dados fictícios*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05987" y="402617"/>
            <a:ext cx="14649617" cy="2044168"/>
            <a:chOff x="0" y="0"/>
            <a:chExt cx="19532823" cy="27255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CRIAÇÃO DE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INTERFACE DE M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ONITORAMENTO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660892" y="2564898"/>
            <a:ext cx="11618661" cy="7572796"/>
          </a:xfrm>
          <a:custGeom>
            <a:avLst/>
            <a:gdLst/>
            <a:ahLst/>
            <a:cxnLst/>
            <a:rect r="r" b="b" t="t" l="l"/>
            <a:pathLst>
              <a:path h="7572796" w="11618661">
                <a:moveTo>
                  <a:pt x="0" y="0"/>
                </a:moveTo>
                <a:lnTo>
                  <a:pt x="11618662" y="0"/>
                </a:lnTo>
                <a:lnTo>
                  <a:pt x="11618662" y="7572796"/>
                </a:lnTo>
                <a:lnTo>
                  <a:pt x="0" y="7572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34" r="0" b="-722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71359" y="2611435"/>
            <a:ext cx="17586575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 spc="2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Leitores NFC USB → R$50,00 até R$100,00</a:t>
            </a:r>
          </a:p>
          <a:p>
            <a:pPr algn="l">
              <a:lnSpc>
                <a:spcPts val="5759"/>
              </a:lnSpc>
            </a:pPr>
          </a:p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 spc="2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PC central/notebook → R$ 1.500,00 até R$ 2.500,00</a:t>
            </a:r>
          </a:p>
          <a:p>
            <a:pPr algn="l">
              <a:lnSpc>
                <a:spcPts val="5759"/>
              </a:lnSpc>
            </a:pPr>
          </a:p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 spc="2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Software (Excel/Python – open source) → R$ 0,00</a:t>
            </a:r>
          </a:p>
          <a:p>
            <a:pPr algn="l">
              <a:lnSpc>
                <a:spcPts val="5759"/>
              </a:lnSpc>
            </a:pPr>
          </a:p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 spc="2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Tags/Card NFC → R$ 50,00 até R$ 150,00 </a:t>
            </a:r>
          </a:p>
          <a:p>
            <a:pPr algn="l">
              <a:lnSpc>
                <a:spcPts val="5759"/>
              </a:lnSpc>
            </a:pPr>
          </a:p>
          <a:p>
            <a:pPr algn="l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sz="4800" spc="2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Total estimado: R$ 1.700,00 até R$ 2,750,00</a:t>
            </a:r>
          </a:p>
          <a:p>
            <a:pPr algn="l">
              <a:lnSpc>
                <a:spcPts val="5759"/>
              </a:lnSpc>
            </a:pP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10" id="10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05987" y="402617"/>
            <a:ext cx="14649617" cy="2044168"/>
            <a:chOff x="0" y="0"/>
            <a:chExt cx="19532823" cy="27255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ORÇAMENTO DE TECNOLOGIAS UTILIZADAS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9" id="9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aphicFrame>
        <p:nvGraphicFramePr>
          <p:cNvPr name="Object 10" id="10"/>
          <p:cNvGraphicFramePr/>
          <p:nvPr/>
        </p:nvGraphicFramePr>
        <p:xfrm>
          <a:off x="1028700" y="2126835"/>
          <a:ext cx="16230600" cy="8119718"/>
        </p:xfrm>
        <a:graphic>
          <a:graphicData uri="http://schemas.openxmlformats.org/presentationml/2006/ole">
            <p:oleObj imgW="19469100" imgH="113538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3405987" y="94539"/>
            <a:ext cx="14649617" cy="2044168"/>
            <a:chOff x="0" y="0"/>
            <a:chExt cx="19532823" cy="27255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ORÇAMENTO DE TECNOLOGIAS UTILIZADAS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9" id="9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04913" y="2705072"/>
            <a:ext cx="15878174" cy="7145178"/>
          </a:xfrm>
          <a:custGeom>
            <a:avLst/>
            <a:gdLst/>
            <a:ahLst/>
            <a:cxnLst/>
            <a:rect r="r" b="b" t="t" l="l"/>
            <a:pathLst>
              <a:path h="7145178" w="15878174">
                <a:moveTo>
                  <a:pt x="0" y="0"/>
                </a:moveTo>
                <a:lnTo>
                  <a:pt x="15878174" y="0"/>
                </a:lnTo>
                <a:lnTo>
                  <a:pt x="15878174" y="7145179"/>
                </a:lnTo>
                <a:lnTo>
                  <a:pt x="0" y="7145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405987" y="402617"/>
            <a:ext cx="14649617" cy="2044168"/>
            <a:chOff x="0" y="0"/>
            <a:chExt cx="19532823" cy="27255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PROTÓTIPO FÍSICO MONTADO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3">
            <a:off x="16620341" y="5129608"/>
            <a:ext cx="195657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7" y="7021908"/>
            <a:ext cx="63456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8" y="6350000"/>
            <a:ext cx="40433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1">
            <a:off x="15092021" y="5996385"/>
            <a:ext cx="37638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2">
            <a:off x="15953393" y="6467476"/>
            <a:ext cx="275469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5722" y="94539"/>
            <a:ext cx="3350265" cy="1608128"/>
            <a:chOff x="0" y="0"/>
            <a:chExt cx="4467020" cy="2144170"/>
          </a:xfrm>
        </p:grpSpPr>
        <p:sp>
          <p:nvSpPr>
            <p:cNvPr name="Freeform 9" id="9" descr="Placa vermelha com letras brancas  O conteúdo gerado por IA pode estar incorreto."/>
            <p:cNvSpPr/>
            <p:nvPr/>
          </p:nvSpPr>
          <p:spPr>
            <a:xfrm flipH="false" flipV="false" rot="0">
              <a:off x="0" y="0"/>
              <a:ext cx="4466971" cy="2144141"/>
            </a:xfrm>
            <a:custGeom>
              <a:avLst/>
              <a:gdLst/>
              <a:ahLst/>
              <a:cxnLst/>
              <a:rect r="r" b="b" t="t" l="l"/>
              <a:pathLst>
                <a:path h="2144141" w="4466971">
                  <a:moveTo>
                    <a:pt x="0" y="0"/>
                  </a:moveTo>
                  <a:lnTo>
                    <a:pt x="4466971" y="0"/>
                  </a:lnTo>
                  <a:lnTo>
                    <a:pt x="4466971" y="2144141"/>
                  </a:lnTo>
                  <a:lnTo>
                    <a:pt x="0" y="214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075419" y="2829165"/>
            <a:ext cx="4741549" cy="6429135"/>
          </a:xfrm>
          <a:custGeom>
            <a:avLst/>
            <a:gdLst/>
            <a:ahLst/>
            <a:cxnLst/>
            <a:rect r="r" b="b" t="t" l="l"/>
            <a:pathLst>
              <a:path h="6429135" w="4741549">
                <a:moveTo>
                  <a:pt x="0" y="0"/>
                </a:moveTo>
                <a:lnTo>
                  <a:pt x="4741549" y="0"/>
                </a:lnTo>
                <a:lnTo>
                  <a:pt x="4741549" y="6429135"/>
                </a:lnTo>
                <a:lnTo>
                  <a:pt x="0" y="64291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999" t="-17325" r="-115831" b="-1696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49821" y="2829165"/>
            <a:ext cx="8657053" cy="6429135"/>
          </a:xfrm>
          <a:custGeom>
            <a:avLst/>
            <a:gdLst/>
            <a:ahLst/>
            <a:cxnLst/>
            <a:rect r="r" b="b" t="t" l="l"/>
            <a:pathLst>
              <a:path h="6429135" w="8657053">
                <a:moveTo>
                  <a:pt x="0" y="0"/>
                </a:moveTo>
                <a:lnTo>
                  <a:pt x="8657053" y="0"/>
                </a:lnTo>
                <a:lnTo>
                  <a:pt x="8657053" y="6429135"/>
                </a:lnTo>
                <a:lnTo>
                  <a:pt x="0" y="64291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405987" y="402617"/>
            <a:ext cx="14649617" cy="2044168"/>
            <a:chOff x="0" y="0"/>
            <a:chExt cx="19532823" cy="2725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32823" cy="2725558"/>
            </a:xfrm>
            <a:custGeom>
              <a:avLst/>
              <a:gdLst/>
              <a:ahLst/>
              <a:cxnLst/>
              <a:rect r="r" b="b" t="t" l="l"/>
              <a:pathLst>
                <a:path h="2725558" w="19532823">
                  <a:moveTo>
                    <a:pt x="0" y="0"/>
                  </a:moveTo>
                  <a:lnTo>
                    <a:pt x="19532823" y="0"/>
                  </a:lnTo>
                  <a:lnTo>
                    <a:pt x="19532823" y="2725558"/>
                  </a:lnTo>
                  <a:lnTo>
                    <a:pt x="0" y="2725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19100"/>
              <a:ext cx="19532823" cy="230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0"/>
                </a:lnSpc>
              </a:pPr>
              <a:r>
                <a:rPr lang="en-US" b="true" sz="6400" spc="-115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SOLUÇÃO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5999"/>
                </a:lnSpc>
              </a:pP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ETAPA:</a:t>
              </a:r>
              <a:r>
                <a:rPr lang="en-US" sz="3999" spc="-71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</a:t>
              </a:r>
              <a:r>
                <a:rPr lang="en-US" b="true" sz="3999" spc="-7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MODELAGEM 3D DO PROJETO NO CARRINHO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DAG5iLon9vQ</dc:identifier>
  <dcterms:modified xsi:type="dcterms:W3CDTF">2011-08-01T06:04:30Z</dcterms:modified>
  <cp:revision>1</cp:revision>
  <dc:title>Modelo_Feira_Solucoes 2025-2.pptx</dc:title>
</cp:coreProperties>
</file>