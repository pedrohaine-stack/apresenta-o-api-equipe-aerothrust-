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" charset="1" panose="00000500000000000000"/>
      <p:regular r:id="rId19"/>
    </p:embeddedFont>
    <p:embeddedFont>
      <p:font typeface="Poppins Semi-Bold" charset="1" panose="00000700000000000000"/>
      <p:regular r:id="rId20"/>
    </p:embeddedFont>
    <p:embeddedFont>
      <p:font typeface="Poppins Bold" charset="1" panose="00000800000000000000"/>
      <p:regular r:id="rId21"/>
    </p:embeddedFont>
    <p:embeddedFont>
      <p:font typeface="Poppins Medium" charset="1" panose="00000600000000000000"/>
      <p:regular r:id="rId22"/>
    </p:embeddedFont>
    <p:embeddedFont>
      <p:font typeface="Arimo" charset="1" panose="020B0604020202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8" Type="http://schemas.openxmlformats.org/officeDocument/2006/relationships/slide" Target="slides/slide3.xml"/><Relationship Id="rId26" Type="http://schemas.openxmlformats.org/officeDocument/2006/relationships/customXml" Target="../customXml/item3.xml"/><Relationship Id="rId21" Type="http://schemas.openxmlformats.org/officeDocument/2006/relationships/font" Target="fonts/font21.fntdata"/><Relationship Id="rId3" Type="http://schemas.openxmlformats.org/officeDocument/2006/relationships/viewProps" Target="viewProps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7" Type="http://schemas.openxmlformats.org/officeDocument/2006/relationships/slide" Target="slides/slide2.xml"/><Relationship Id="rId25" Type="http://schemas.openxmlformats.org/officeDocument/2006/relationships/customXml" Target="../customXml/item2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6" Type="http://schemas.openxmlformats.org/officeDocument/2006/relationships/slide" Target="slides/slide1.xml"/><Relationship Id="rId24" Type="http://schemas.openxmlformats.org/officeDocument/2006/relationships/customXml" Target="../customXml/item1.xml"/><Relationship Id="rId15" Type="http://schemas.openxmlformats.org/officeDocument/2006/relationships/slide" Target="slides/slide10.xml"/><Relationship Id="rId23" Type="http://schemas.openxmlformats.org/officeDocument/2006/relationships/font" Target="fonts/font23.fntdata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font" Target="fonts/font19.fntdata"/><Relationship Id="rId14" Type="http://schemas.openxmlformats.org/officeDocument/2006/relationships/slide" Target="slides/slide9.xml"/><Relationship Id="rId22" Type="http://schemas.openxmlformats.org/officeDocument/2006/relationships/font" Target="fonts/font22.fntdata"/><Relationship Id="rId4" Type="http://schemas.openxmlformats.org/officeDocument/2006/relationships/theme" Target="theme/theme1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jpeg" Type="http://schemas.openxmlformats.org/officeDocument/2006/relationships/image"/><Relationship Id="rId6" Target="../media/image11.png" Type="http://schemas.openxmlformats.org/officeDocument/2006/relationships/image"/><Relationship Id="rId7" Target="../media/image1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3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8.png" Type="http://schemas.openxmlformats.org/officeDocument/2006/relationships/image"/><Relationship Id="rId7" Target="../embeddings/oleObject2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0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 TargetMode="External" Type="http://schemas.openxmlformats.org/officeDocument/2006/relationships/hyperlink"/><Relationship Id="rId11" Target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 TargetMode="External" Type="http://schemas.openxmlformats.org/officeDocument/2006/relationships/hyperlink"/><Relationship Id="rId12" Target="https://www.youtube.com/watch?v=0KX-8koO14c" TargetMode="External" Type="http://schemas.openxmlformats.org/officeDocument/2006/relationships/hyperlink"/><Relationship Id="rId13" Target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 TargetMode="External" Type="http://schemas.openxmlformats.org/officeDocument/2006/relationships/hyperlink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 TargetMode="External" Type="http://schemas.openxmlformats.org/officeDocument/2006/relationships/hyperlink"/><Relationship Id="rId5" Target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 TargetMode="External" Type="http://schemas.openxmlformats.org/officeDocument/2006/relationships/hyperlink"/><Relationship Id="rId6" Target="https://blog.fazedores.com/fechadura-eletronica-com-arduino-e-rfid/" TargetMode="External" Type="http://schemas.openxmlformats.org/officeDocument/2006/relationships/hyperlink"/><Relationship Id="rId7" Target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 TargetMode="External" Type="http://schemas.openxmlformats.org/officeDocument/2006/relationships/hyperlink"/><Relationship Id="rId8" Target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 TargetMode="External" Type="http://schemas.openxmlformats.org/officeDocument/2006/relationships/hyperlink"/><Relationship Id="rId9" Target="https://www.mercadolivre.com.br/trava-fechadura-eletrica-solenoide-12v-para-arduino/up/MLBU1190033542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5210" y="8898593"/>
            <a:ext cx="321607" cy="321607"/>
          </a:xfrm>
          <a:custGeom>
            <a:avLst/>
            <a:gdLst/>
            <a:ahLst/>
            <a:cxnLst/>
            <a:rect r="r" b="b" t="t" l="l"/>
            <a:pathLst>
              <a:path h="321607" w="321607">
                <a:moveTo>
                  <a:pt x="0" y="0"/>
                </a:moveTo>
                <a:lnTo>
                  <a:pt x="321607" y="0"/>
                </a:lnTo>
                <a:lnTo>
                  <a:pt x="321607" y="321607"/>
                </a:lnTo>
                <a:lnTo>
                  <a:pt x="0" y="3216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810659"/>
            <a:ext cx="9652806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spc="-2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Proposta</a:t>
            </a:r>
            <a:r>
              <a:rPr lang="en-US" sz="7000" spc="-2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906034"/>
            <a:ext cx="9652806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spc="-280" b="true">
                <a:solidFill>
                  <a:srgbClr val="16416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Solução de Problema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785013" y="9692531"/>
            <a:ext cx="10616402" cy="3086100"/>
            <a:chOff x="0" y="0"/>
            <a:chExt cx="2796089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96089" cy="812800"/>
            </a:xfrm>
            <a:custGeom>
              <a:avLst/>
              <a:gdLst/>
              <a:ahLst/>
              <a:cxnLst/>
              <a:rect r="r" b="b" t="t" l="l"/>
              <a:pathLst>
                <a:path h="812800" w="2796089">
                  <a:moveTo>
                    <a:pt x="72924" y="0"/>
                  </a:moveTo>
                  <a:lnTo>
                    <a:pt x="2723165" y="0"/>
                  </a:lnTo>
                  <a:cubicBezTo>
                    <a:pt x="2763440" y="0"/>
                    <a:pt x="2796089" y="32649"/>
                    <a:pt x="2796089" y="72924"/>
                  </a:cubicBezTo>
                  <a:lnTo>
                    <a:pt x="2796089" y="739876"/>
                  </a:lnTo>
                  <a:cubicBezTo>
                    <a:pt x="2796089" y="759217"/>
                    <a:pt x="2788406" y="777765"/>
                    <a:pt x="2774730" y="791441"/>
                  </a:cubicBezTo>
                  <a:cubicBezTo>
                    <a:pt x="2761055" y="805117"/>
                    <a:pt x="2742506" y="812800"/>
                    <a:pt x="2723165" y="812800"/>
                  </a:cubicBezTo>
                  <a:lnTo>
                    <a:pt x="72924" y="812800"/>
                  </a:lnTo>
                  <a:cubicBezTo>
                    <a:pt x="32649" y="812800"/>
                    <a:pt x="0" y="780151"/>
                    <a:pt x="0" y="739876"/>
                  </a:cubicBezTo>
                  <a:lnTo>
                    <a:pt x="0" y="72924"/>
                  </a:lnTo>
                  <a:cubicBezTo>
                    <a:pt x="0" y="32649"/>
                    <a:pt x="32649" y="0"/>
                    <a:pt x="72924" y="0"/>
                  </a:cubicBezTo>
                  <a:close/>
                </a:path>
              </a:pathLst>
            </a:custGeom>
            <a:solidFill>
              <a:srgbClr val="0039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9608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75652" y="0"/>
            <a:ext cx="7412348" cy="5559261"/>
            <a:chOff x="0" y="0"/>
            <a:chExt cx="812800" cy="609600"/>
          </a:xfrm>
        </p:grpSpPr>
        <p:sp>
          <p:nvSpPr>
            <p:cNvPr name="Freeform 9" id="9"/>
            <p:cNvSpPr/>
            <p:nvPr/>
          </p:nvSpPr>
          <p:spPr>
            <a:xfrm flipH="true" flipV="true" rot="-1080000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4"/>
              <a:stretch>
                <a:fillRect l="-2285" t="0" r="-1814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-4272804">
            <a:off x="10553906" y="1797632"/>
            <a:ext cx="192574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Empresa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94888" y="1002733"/>
            <a:ext cx="7360488" cy="512526"/>
            <a:chOff x="0" y="0"/>
            <a:chExt cx="9813984" cy="6833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8478" cy="683368"/>
            </a:xfrm>
            <a:custGeom>
              <a:avLst/>
              <a:gdLst/>
              <a:ahLst/>
              <a:cxnLst/>
              <a:rect r="r" b="b" t="t" l="l"/>
              <a:pathLst>
                <a:path h="683368" w="458478">
                  <a:moveTo>
                    <a:pt x="0" y="0"/>
                  </a:moveTo>
                  <a:lnTo>
                    <a:pt x="458478" y="0"/>
                  </a:lnTo>
                  <a:lnTo>
                    <a:pt x="458478" y="683368"/>
                  </a:lnTo>
                  <a:lnTo>
                    <a:pt x="0" y="683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599865" y="56781"/>
              <a:ext cx="9214119" cy="512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9"/>
                </a:lnSpc>
              </a:pPr>
              <a:r>
                <a:rPr lang="en-US" sz="2299" b="true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PROJETO INTEGRADOR - 4º SEM. 2025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1664" y="5511636"/>
            <a:ext cx="427438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  <a:r>
              <a:rPr lang="en-US" b="true" sz="2999">
                <a:solidFill>
                  <a:srgbClr val="16416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2999">
                <a:solidFill>
                  <a:srgbClr val="164160"/>
                </a:solidFill>
                <a:latin typeface="Poppins Bold"/>
                <a:ea typeface="Poppins Bold"/>
                <a:cs typeface="Poppins Bold"/>
                <a:sym typeface="Poppins Bold"/>
              </a:rPr>
              <a:t>rojeto: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8174" y="6006618"/>
            <a:ext cx="8786179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Controle Físico de Acesso com RFID e Trava Eletrônica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1664" y="8164046"/>
            <a:ext cx="7003049" cy="895351"/>
            <a:chOff x="0" y="0"/>
            <a:chExt cx="9337399" cy="1193801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47625"/>
              <a:ext cx="9337399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16416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Responsável por autorizar o projeto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549276"/>
              <a:ext cx="8263822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Fábio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-4247818">
            <a:off x="10563003" y="7205175"/>
            <a:ext cx="14545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Equipe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875652" y="4700014"/>
            <a:ext cx="7412348" cy="5559261"/>
            <a:chOff x="0" y="0"/>
            <a:chExt cx="812800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7"/>
              <a:stretch>
                <a:fillRect l="-46065" t="-35831" r="-44163" b="-26497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79640" y="-2312364"/>
            <a:ext cx="7210257" cy="9012725"/>
            <a:chOff x="0" y="0"/>
            <a:chExt cx="9613675" cy="12016967"/>
          </a:xfrm>
        </p:grpSpPr>
        <p:sp>
          <p:nvSpPr>
            <p:cNvPr name="Freeform 3" id="3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4502659" y="3867944"/>
            <a:ext cx="7210257" cy="9012725"/>
            <a:chOff x="0" y="0"/>
            <a:chExt cx="9613675" cy="12016967"/>
          </a:xfrm>
        </p:grpSpPr>
        <p:sp>
          <p:nvSpPr>
            <p:cNvPr name="Freeform 6" id="6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0" y="9476593"/>
            <a:ext cx="10616402" cy="3086100"/>
            <a:chOff x="0" y="0"/>
            <a:chExt cx="2796089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6089" cy="812800"/>
            </a:xfrm>
            <a:custGeom>
              <a:avLst/>
              <a:gdLst/>
              <a:ahLst/>
              <a:cxnLst/>
              <a:rect r="r" b="b" t="t" l="l"/>
              <a:pathLst>
                <a:path h="812800" w="2796089">
                  <a:moveTo>
                    <a:pt x="72924" y="0"/>
                  </a:moveTo>
                  <a:lnTo>
                    <a:pt x="2723165" y="0"/>
                  </a:lnTo>
                  <a:cubicBezTo>
                    <a:pt x="2763440" y="0"/>
                    <a:pt x="2796089" y="32649"/>
                    <a:pt x="2796089" y="72924"/>
                  </a:cubicBezTo>
                  <a:lnTo>
                    <a:pt x="2796089" y="739876"/>
                  </a:lnTo>
                  <a:cubicBezTo>
                    <a:pt x="2796089" y="759217"/>
                    <a:pt x="2788406" y="777765"/>
                    <a:pt x="2774730" y="791441"/>
                  </a:cubicBezTo>
                  <a:cubicBezTo>
                    <a:pt x="2761055" y="805117"/>
                    <a:pt x="2742506" y="812800"/>
                    <a:pt x="2723165" y="812800"/>
                  </a:cubicBezTo>
                  <a:lnTo>
                    <a:pt x="72924" y="812800"/>
                  </a:lnTo>
                  <a:cubicBezTo>
                    <a:pt x="32649" y="812800"/>
                    <a:pt x="0" y="780151"/>
                    <a:pt x="0" y="739876"/>
                  </a:cubicBezTo>
                  <a:lnTo>
                    <a:pt x="0" y="72924"/>
                  </a:lnTo>
                  <a:cubicBezTo>
                    <a:pt x="0" y="32649"/>
                    <a:pt x="32649" y="0"/>
                    <a:pt x="72924" y="0"/>
                  </a:cubicBezTo>
                  <a:close/>
                </a:path>
              </a:pathLst>
            </a:custGeom>
            <a:solidFill>
              <a:srgbClr val="00396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9608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472402" y="-2312364"/>
            <a:ext cx="10616402" cy="3086100"/>
            <a:chOff x="0" y="0"/>
            <a:chExt cx="2796089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96089" cy="812800"/>
            </a:xfrm>
            <a:custGeom>
              <a:avLst/>
              <a:gdLst/>
              <a:ahLst/>
              <a:cxnLst/>
              <a:rect r="r" b="b" t="t" l="l"/>
              <a:pathLst>
                <a:path h="812800" w="2796089">
                  <a:moveTo>
                    <a:pt x="72924" y="0"/>
                  </a:moveTo>
                  <a:lnTo>
                    <a:pt x="2723165" y="0"/>
                  </a:lnTo>
                  <a:cubicBezTo>
                    <a:pt x="2763440" y="0"/>
                    <a:pt x="2796089" y="32649"/>
                    <a:pt x="2796089" y="72924"/>
                  </a:cubicBezTo>
                  <a:lnTo>
                    <a:pt x="2796089" y="739876"/>
                  </a:lnTo>
                  <a:cubicBezTo>
                    <a:pt x="2796089" y="759217"/>
                    <a:pt x="2788406" y="777765"/>
                    <a:pt x="2774730" y="791441"/>
                  </a:cubicBezTo>
                  <a:cubicBezTo>
                    <a:pt x="2761055" y="805117"/>
                    <a:pt x="2742506" y="812800"/>
                    <a:pt x="2723165" y="812800"/>
                  </a:cubicBezTo>
                  <a:lnTo>
                    <a:pt x="72924" y="812800"/>
                  </a:lnTo>
                  <a:cubicBezTo>
                    <a:pt x="32649" y="812800"/>
                    <a:pt x="0" y="780151"/>
                    <a:pt x="0" y="739876"/>
                  </a:cubicBezTo>
                  <a:lnTo>
                    <a:pt x="0" y="72924"/>
                  </a:lnTo>
                  <a:cubicBezTo>
                    <a:pt x="0" y="32649"/>
                    <a:pt x="32649" y="0"/>
                    <a:pt x="72924" y="0"/>
                  </a:cubicBezTo>
                  <a:close/>
                </a:path>
              </a:pathLst>
            </a:custGeom>
            <a:solidFill>
              <a:srgbClr val="00396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9608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74278" y="3091917"/>
            <a:ext cx="2866638" cy="286663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6666" r="0" b="-16666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529954" y="3059736"/>
            <a:ext cx="2898820" cy="289882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22776" t="-46118" r="-72961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608936" y="4926212"/>
            <a:ext cx="2898820" cy="289882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6865" t="0" r="-6865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836718" y="4926212"/>
            <a:ext cx="2898820" cy="289882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42855" r="-57509" b="-67157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3733283" y="697536"/>
            <a:ext cx="10821434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METODOLOGIA SCRUM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81990" y="7758357"/>
            <a:ext cx="3352711" cy="1165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3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Scrum Master</a:t>
            </a:r>
            <a:r>
              <a:rPr lang="en-US" sz="3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</a:p>
          <a:p>
            <a:pPr algn="ctr" marL="0" indent="0" lvl="0">
              <a:lnSpc>
                <a:spcPts val="454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Vinicius Santos 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0078" y="5891880"/>
            <a:ext cx="3515038" cy="1165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3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Owner</a:t>
            </a:r>
            <a:r>
              <a:rPr lang="en-US" sz="3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</a:p>
          <a:p>
            <a:pPr algn="ctr" marL="0" indent="0" lvl="0">
              <a:lnSpc>
                <a:spcPts val="454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Pedro Henrique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779640" y="7758357"/>
            <a:ext cx="3012975" cy="1165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3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Scrum Team</a:t>
            </a:r>
            <a:r>
              <a:rPr lang="en-US" sz="3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</a:p>
          <a:p>
            <a:pPr algn="ctr" marL="0" indent="0" lvl="0">
              <a:lnSpc>
                <a:spcPts val="454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Kauã Yuri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88539" y="5891880"/>
            <a:ext cx="4181650" cy="1165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3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Scrum Team</a:t>
            </a:r>
            <a:r>
              <a:rPr lang="en-US" sz="3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</a:p>
          <a:p>
            <a:pPr algn="ctr" marL="0" indent="0" lvl="0">
              <a:lnSpc>
                <a:spcPts val="454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Mateus Aparecido 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18242" y="-2505851"/>
            <a:ext cx="7210257" cy="9012725"/>
            <a:chOff x="0" y="0"/>
            <a:chExt cx="9613675" cy="12016967"/>
          </a:xfrm>
        </p:grpSpPr>
        <p:sp>
          <p:nvSpPr>
            <p:cNvPr name="Freeform 3" id="3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4502659" y="3867944"/>
            <a:ext cx="7210257" cy="9012725"/>
            <a:chOff x="0" y="0"/>
            <a:chExt cx="9613675" cy="12016967"/>
          </a:xfrm>
        </p:grpSpPr>
        <p:sp>
          <p:nvSpPr>
            <p:cNvPr name="Freeform 6" id="6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0" y="9476593"/>
            <a:ext cx="10616402" cy="3086100"/>
            <a:chOff x="0" y="0"/>
            <a:chExt cx="2796089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6089" cy="812800"/>
            </a:xfrm>
            <a:custGeom>
              <a:avLst/>
              <a:gdLst/>
              <a:ahLst/>
              <a:cxnLst/>
              <a:rect r="r" b="b" t="t" l="l"/>
              <a:pathLst>
                <a:path h="812800" w="2796089">
                  <a:moveTo>
                    <a:pt x="72924" y="0"/>
                  </a:moveTo>
                  <a:lnTo>
                    <a:pt x="2723165" y="0"/>
                  </a:lnTo>
                  <a:cubicBezTo>
                    <a:pt x="2763440" y="0"/>
                    <a:pt x="2796089" y="32649"/>
                    <a:pt x="2796089" y="72924"/>
                  </a:cubicBezTo>
                  <a:lnTo>
                    <a:pt x="2796089" y="739876"/>
                  </a:lnTo>
                  <a:cubicBezTo>
                    <a:pt x="2796089" y="759217"/>
                    <a:pt x="2788406" y="777765"/>
                    <a:pt x="2774730" y="791441"/>
                  </a:cubicBezTo>
                  <a:cubicBezTo>
                    <a:pt x="2761055" y="805117"/>
                    <a:pt x="2742506" y="812800"/>
                    <a:pt x="2723165" y="812800"/>
                  </a:cubicBezTo>
                  <a:lnTo>
                    <a:pt x="72924" y="812800"/>
                  </a:lnTo>
                  <a:cubicBezTo>
                    <a:pt x="32649" y="812800"/>
                    <a:pt x="0" y="780151"/>
                    <a:pt x="0" y="739876"/>
                  </a:cubicBezTo>
                  <a:lnTo>
                    <a:pt x="0" y="72924"/>
                  </a:lnTo>
                  <a:cubicBezTo>
                    <a:pt x="0" y="32649"/>
                    <a:pt x="32649" y="0"/>
                    <a:pt x="72924" y="0"/>
                  </a:cubicBezTo>
                  <a:close/>
                </a:path>
              </a:pathLst>
            </a:custGeom>
            <a:solidFill>
              <a:srgbClr val="00396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9608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472402" y="-2312364"/>
            <a:ext cx="10616402" cy="3086100"/>
            <a:chOff x="0" y="0"/>
            <a:chExt cx="2796089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96089" cy="812800"/>
            </a:xfrm>
            <a:custGeom>
              <a:avLst/>
              <a:gdLst/>
              <a:ahLst/>
              <a:cxnLst/>
              <a:rect r="r" b="b" t="t" l="l"/>
              <a:pathLst>
                <a:path h="812800" w="2796089">
                  <a:moveTo>
                    <a:pt x="72924" y="0"/>
                  </a:moveTo>
                  <a:lnTo>
                    <a:pt x="2723165" y="0"/>
                  </a:lnTo>
                  <a:cubicBezTo>
                    <a:pt x="2763440" y="0"/>
                    <a:pt x="2796089" y="32649"/>
                    <a:pt x="2796089" y="72924"/>
                  </a:cubicBezTo>
                  <a:lnTo>
                    <a:pt x="2796089" y="739876"/>
                  </a:lnTo>
                  <a:cubicBezTo>
                    <a:pt x="2796089" y="759217"/>
                    <a:pt x="2788406" y="777765"/>
                    <a:pt x="2774730" y="791441"/>
                  </a:cubicBezTo>
                  <a:cubicBezTo>
                    <a:pt x="2761055" y="805117"/>
                    <a:pt x="2742506" y="812800"/>
                    <a:pt x="2723165" y="812800"/>
                  </a:cubicBezTo>
                  <a:lnTo>
                    <a:pt x="72924" y="812800"/>
                  </a:lnTo>
                  <a:cubicBezTo>
                    <a:pt x="32649" y="812800"/>
                    <a:pt x="0" y="780151"/>
                    <a:pt x="0" y="739876"/>
                  </a:cubicBezTo>
                  <a:lnTo>
                    <a:pt x="0" y="72924"/>
                  </a:lnTo>
                  <a:cubicBezTo>
                    <a:pt x="0" y="32649"/>
                    <a:pt x="32649" y="0"/>
                    <a:pt x="72924" y="0"/>
                  </a:cubicBezTo>
                  <a:close/>
                </a:path>
              </a:pathLst>
            </a:custGeom>
            <a:solidFill>
              <a:srgbClr val="00396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9608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aphicFrame>
        <p:nvGraphicFramePr>
          <p:cNvPr name="Object 14" id="14"/>
          <p:cNvGraphicFramePr/>
          <p:nvPr/>
        </p:nvGraphicFramePr>
        <p:xfrm>
          <a:off x="1298578" y="2595302"/>
          <a:ext cx="9429750" cy="6286500"/>
        </p:xfrm>
        <a:graphic>
          <a:graphicData uri="http://schemas.openxmlformats.org/presentationml/2006/ole">
            <p:oleObj imgW="11315700" imgH="81661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1298578" y="781312"/>
            <a:ext cx="15690843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MATRIZ DE RESPONSABILIDADE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75016" y="3804342"/>
            <a:ext cx="6154370" cy="382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69"/>
              </a:lnSpc>
              <a:spcBef>
                <a:spcPct val="0"/>
              </a:spcBef>
            </a:pPr>
            <a:r>
              <a:rPr lang="en-US" b="true" sz="2899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R (Responsible)</a:t>
            </a:r>
            <a:r>
              <a:rPr lang="en-US" sz="28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 → Responsável pela execução.</a:t>
            </a:r>
          </a:p>
          <a:p>
            <a:pPr algn="just">
              <a:lnSpc>
                <a:spcPts val="3769"/>
              </a:lnSpc>
              <a:spcBef>
                <a:spcPct val="0"/>
              </a:spcBef>
            </a:pPr>
            <a:r>
              <a:rPr lang="en-US" b="true" sz="2899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A (Accountable)</a:t>
            </a:r>
            <a:r>
              <a:rPr lang="en-US" sz="28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 → Responsável final pela entrega.</a:t>
            </a:r>
          </a:p>
          <a:p>
            <a:pPr algn="just">
              <a:lnSpc>
                <a:spcPts val="3769"/>
              </a:lnSpc>
              <a:spcBef>
                <a:spcPct val="0"/>
              </a:spcBef>
            </a:pPr>
            <a:r>
              <a:rPr lang="en-US" b="true" sz="2899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C (Consulted) </a:t>
            </a:r>
            <a:r>
              <a:rPr lang="en-US" sz="28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→ Consultado, auxilia tecnicamente.</a:t>
            </a:r>
          </a:p>
          <a:p>
            <a:pPr algn="just">
              <a:lnSpc>
                <a:spcPts val="3769"/>
              </a:lnSpc>
              <a:spcBef>
                <a:spcPct val="0"/>
              </a:spcBef>
            </a:pPr>
            <a:r>
              <a:rPr lang="en-US" b="true" sz="2899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I (Informed)</a:t>
            </a:r>
            <a:r>
              <a:rPr lang="en-US" sz="28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 → Informado sobre o andamento.</a:t>
            </a:r>
          </a:p>
        </p:txBody>
      </p:sp>
    </p:spTree>
  </p:cSld>
  <p:clrMapOvr>
    <a:masterClrMapping/>
  </p:clrMapOvr>
  <p:transition spd="slow">
    <p:push dir="d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9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40474" y="3521651"/>
            <a:ext cx="774763" cy="813800"/>
            <a:chOff x="0" y="0"/>
            <a:chExt cx="812800" cy="8537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53754"/>
            </a:xfrm>
            <a:custGeom>
              <a:avLst/>
              <a:gdLst/>
              <a:ahLst/>
              <a:cxnLst/>
              <a:rect r="r" b="b" t="t" l="l"/>
              <a:pathLst>
                <a:path h="853754" w="812800">
                  <a:moveTo>
                    <a:pt x="406400" y="0"/>
                  </a:moveTo>
                  <a:cubicBezTo>
                    <a:pt x="181951" y="0"/>
                    <a:pt x="0" y="191119"/>
                    <a:pt x="0" y="426877"/>
                  </a:cubicBezTo>
                  <a:cubicBezTo>
                    <a:pt x="0" y="662635"/>
                    <a:pt x="181951" y="853754"/>
                    <a:pt x="406400" y="853754"/>
                  </a:cubicBezTo>
                  <a:cubicBezTo>
                    <a:pt x="630849" y="853754"/>
                    <a:pt x="812800" y="662635"/>
                    <a:pt x="812800" y="426877"/>
                  </a:cubicBezTo>
                  <a:cubicBezTo>
                    <a:pt x="812800" y="19111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1939"/>
              <a:ext cx="660400" cy="73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  <a:r>
                <a:rPr lang="en-US" b="true" sz="2199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40474" y="4502275"/>
            <a:ext cx="774763" cy="813800"/>
            <a:chOff x="0" y="0"/>
            <a:chExt cx="812800" cy="8537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53754"/>
            </a:xfrm>
            <a:custGeom>
              <a:avLst/>
              <a:gdLst/>
              <a:ahLst/>
              <a:cxnLst/>
              <a:rect r="r" b="b" t="t" l="l"/>
              <a:pathLst>
                <a:path h="853754" w="812800">
                  <a:moveTo>
                    <a:pt x="406400" y="0"/>
                  </a:moveTo>
                  <a:cubicBezTo>
                    <a:pt x="181951" y="0"/>
                    <a:pt x="0" y="191119"/>
                    <a:pt x="0" y="426877"/>
                  </a:cubicBezTo>
                  <a:cubicBezTo>
                    <a:pt x="0" y="662635"/>
                    <a:pt x="181951" y="853754"/>
                    <a:pt x="406400" y="853754"/>
                  </a:cubicBezTo>
                  <a:cubicBezTo>
                    <a:pt x="630849" y="853754"/>
                    <a:pt x="812800" y="662635"/>
                    <a:pt x="812800" y="426877"/>
                  </a:cubicBezTo>
                  <a:cubicBezTo>
                    <a:pt x="812800" y="19111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1939"/>
              <a:ext cx="660400" cy="73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  <a:r>
                <a:rPr lang="en-US" b="true" sz="2199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240474" y="5486587"/>
            <a:ext cx="774763" cy="813800"/>
            <a:chOff x="0" y="0"/>
            <a:chExt cx="812800" cy="8537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53754"/>
            </a:xfrm>
            <a:custGeom>
              <a:avLst/>
              <a:gdLst/>
              <a:ahLst/>
              <a:cxnLst/>
              <a:rect r="r" b="b" t="t" l="l"/>
              <a:pathLst>
                <a:path h="853754" w="812800">
                  <a:moveTo>
                    <a:pt x="406400" y="0"/>
                  </a:moveTo>
                  <a:cubicBezTo>
                    <a:pt x="181951" y="0"/>
                    <a:pt x="0" y="191119"/>
                    <a:pt x="0" y="426877"/>
                  </a:cubicBezTo>
                  <a:cubicBezTo>
                    <a:pt x="0" y="662635"/>
                    <a:pt x="181951" y="853754"/>
                    <a:pt x="406400" y="853754"/>
                  </a:cubicBezTo>
                  <a:cubicBezTo>
                    <a:pt x="630849" y="853754"/>
                    <a:pt x="812800" y="662635"/>
                    <a:pt x="812800" y="426877"/>
                  </a:cubicBezTo>
                  <a:cubicBezTo>
                    <a:pt x="812800" y="19111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1939"/>
              <a:ext cx="660400" cy="73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  <a:r>
                <a:rPr lang="en-US" b="true" sz="2199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40474" y="6471838"/>
            <a:ext cx="774763" cy="813800"/>
            <a:chOff x="0" y="0"/>
            <a:chExt cx="812800" cy="8537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53754"/>
            </a:xfrm>
            <a:custGeom>
              <a:avLst/>
              <a:gdLst/>
              <a:ahLst/>
              <a:cxnLst/>
              <a:rect r="r" b="b" t="t" l="l"/>
              <a:pathLst>
                <a:path h="853754" w="812800">
                  <a:moveTo>
                    <a:pt x="406400" y="0"/>
                  </a:moveTo>
                  <a:cubicBezTo>
                    <a:pt x="181951" y="0"/>
                    <a:pt x="0" y="191119"/>
                    <a:pt x="0" y="426877"/>
                  </a:cubicBezTo>
                  <a:cubicBezTo>
                    <a:pt x="0" y="662635"/>
                    <a:pt x="181951" y="853754"/>
                    <a:pt x="406400" y="853754"/>
                  </a:cubicBezTo>
                  <a:cubicBezTo>
                    <a:pt x="630849" y="853754"/>
                    <a:pt x="812800" y="662635"/>
                    <a:pt x="812800" y="426877"/>
                  </a:cubicBezTo>
                  <a:cubicBezTo>
                    <a:pt x="812800" y="19111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1939"/>
              <a:ext cx="660400" cy="73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  <a:r>
                <a:rPr lang="en-US" b="true" sz="2199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4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274539">
            <a:off x="-5052865" y="2436516"/>
            <a:ext cx="8933104" cy="8687444"/>
          </a:xfrm>
          <a:custGeom>
            <a:avLst/>
            <a:gdLst/>
            <a:ahLst/>
            <a:cxnLst/>
            <a:rect r="r" b="b" t="t" l="l"/>
            <a:pathLst>
              <a:path h="8687444" w="8933104">
                <a:moveTo>
                  <a:pt x="0" y="0"/>
                </a:moveTo>
                <a:lnTo>
                  <a:pt x="8933104" y="0"/>
                </a:lnTo>
                <a:lnTo>
                  <a:pt x="8933104" y="8687444"/>
                </a:lnTo>
                <a:lnTo>
                  <a:pt x="0" y="8687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23286" y="4143562"/>
            <a:ext cx="539333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TÓPICOS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41873" y="3723446"/>
            <a:ext cx="3174947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RESUMO 1º SPRINT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39086" y="4642079"/>
            <a:ext cx="3742362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RESUMO SPRINT ATUAL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421112" y="5658037"/>
            <a:ext cx="5086454" cy="813800"/>
            <a:chOff x="0" y="0"/>
            <a:chExt cx="6781939" cy="1085067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1364038" y="281760"/>
              <a:ext cx="5417900" cy="483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COMPUTADOR/SERVIDOR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0" y="0"/>
              <a:ext cx="1137886" cy="1085067"/>
              <a:chOff x="0" y="0"/>
              <a:chExt cx="895313" cy="853754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95313" cy="853754"/>
              </a:xfrm>
              <a:custGeom>
                <a:avLst/>
                <a:gdLst/>
                <a:ahLst/>
                <a:cxnLst/>
                <a:rect r="r" b="b" t="t" l="l"/>
                <a:pathLst>
                  <a:path h="853754" w="895313">
                    <a:moveTo>
                      <a:pt x="447657" y="0"/>
                    </a:moveTo>
                    <a:cubicBezTo>
                      <a:pt x="200423" y="0"/>
                      <a:pt x="0" y="191119"/>
                      <a:pt x="0" y="426877"/>
                    </a:cubicBezTo>
                    <a:cubicBezTo>
                      <a:pt x="0" y="662635"/>
                      <a:pt x="200423" y="853754"/>
                      <a:pt x="447657" y="853754"/>
                    </a:cubicBezTo>
                    <a:cubicBezTo>
                      <a:pt x="694890" y="853754"/>
                      <a:pt x="895313" y="662635"/>
                      <a:pt x="895313" y="426877"/>
                    </a:cubicBezTo>
                    <a:cubicBezTo>
                      <a:pt x="895313" y="191119"/>
                      <a:pt x="694890" y="0"/>
                      <a:pt x="44765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83936" y="41939"/>
                <a:ext cx="727442" cy="731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9"/>
                  </a:lnSpc>
                </a:pPr>
                <a:r>
                  <a:rPr lang="en-US" b="true" sz="2199">
                    <a:solidFill>
                      <a:srgbClr val="FFFFF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8</a:t>
                </a:r>
              </a:p>
            </p:txBody>
          </p:sp>
        </p:grpSp>
      </p:grpSp>
      <p:sp>
        <p:nvSpPr>
          <p:cNvPr name="Freeform 23" id="23"/>
          <p:cNvSpPr/>
          <p:nvPr/>
        </p:nvSpPr>
        <p:spPr>
          <a:xfrm flipH="false" flipV="false" rot="1911017">
            <a:off x="12792748" y="-6935882"/>
            <a:ext cx="8933104" cy="8687444"/>
          </a:xfrm>
          <a:custGeom>
            <a:avLst/>
            <a:gdLst/>
            <a:ahLst/>
            <a:cxnLst/>
            <a:rect r="r" b="b" t="t" l="l"/>
            <a:pathLst>
              <a:path h="8687444" w="8933104">
                <a:moveTo>
                  <a:pt x="0" y="0"/>
                </a:moveTo>
                <a:lnTo>
                  <a:pt x="8933104" y="0"/>
                </a:lnTo>
                <a:lnTo>
                  <a:pt x="8933104" y="8687444"/>
                </a:lnTo>
                <a:lnTo>
                  <a:pt x="0" y="8687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7240474" y="7457088"/>
            <a:ext cx="5302060" cy="813800"/>
            <a:chOff x="0" y="0"/>
            <a:chExt cx="7069414" cy="1085067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033017" cy="1085067"/>
              <a:chOff x="0" y="0"/>
              <a:chExt cx="812800" cy="853754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53754"/>
              </a:xfrm>
              <a:custGeom>
                <a:avLst/>
                <a:gdLst/>
                <a:ahLst/>
                <a:cxnLst/>
                <a:rect r="r" b="b" t="t" l="l"/>
                <a:pathLst>
                  <a:path h="853754" w="812800">
                    <a:moveTo>
                      <a:pt x="406400" y="0"/>
                    </a:moveTo>
                    <a:cubicBezTo>
                      <a:pt x="181951" y="0"/>
                      <a:pt x="0" y="191119"/>
                      <a:pt x="0" y="426877"/>
                    </a:cubicBezTo>
                    <a:cubicBezTo>
                      <a:pt x="0" y="662635"/>
                      <a:pt x="181951" y="853754"/>
                      <a:pt x="406400" y="853754"/>
                    </a:cubicBezTo>
                    <a:cubicBezTo>
                      <a:pt x="630849" y="853754"/>
                      <a:pt x="812800" y="662635"/>
                      <a:pt x="812800" y="426877"/>
                    </a:cubicBezTo>
                    <a:cubicBezTo>
                      <a:pt x="812800" y="191119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41939"/>
                <a:ext cx="660400" cy="731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9"/>
                  </a:lnSpc>
                </a:pPr>
                <a:r>
                  <a:rPr lang="en-US" b="true" sz="2199">
                    <a:solidFill>
                      <a:srgbClr val="FFFFF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5</a:t>
                </a: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1464817" y="281760"/>
              <a:ext cx="5604597" cy="483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COMPONENTES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266289" y="6673633"/>
            <a:ext cx="3739575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ESQUEMA ARDUINO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339086" y="5657856"/>
            <a:ext cx="3742362" cy="37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OBJETIVO E JUSTIFICATIVA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421112" y="3521651"/>
            <a:ext cx="5286247" cy="813800"/>
            <a:chOff x="0" y="0"/>
            <a:chExt cx="7048329" cy="1085067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1033017" cy="1085067"/>
              <a:chOff x="0" y="0"/>
              <a:chExt cx="812800" cy="853754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53754"/>
              </a:xfrm>
              <a:custGeom>
                <a:avLst/>
                <a:gdLst/>
                <a:ahLst/>
                <a:cxnLst/>
                <a:rect r="r" b="b" t="t" l="l"/>
                <a:pathLst>
                  <a:path h="853754" w="812800">
                    <a:moveTo>
                      <a:pt x="406400" y="0"/>
                    </a:moveTo>
                    <a:cubicBezTo>
                      <a:pt x="181951" y="0"/>
                      <a:pt x="0" y="191119"/>
                      <a:pt x="0" y="426877"/>
                    </a:cubicBezTo>
                    <a:cubicBezTo>
                      <a:pt x="0" y="662635"/>
                      <a:pt x="181951" y="853754"/>
                      <a:pt x="406400" y="853754"/>
                    </a:cubicBezTo>
                    <a:cubicBezTo>
                      <a:pt x="630849" y="853754"/>
                      <a:pt x="812800" y="662635"/>
                      <a:pt x="812800" y="426877"/>
                    </a:cubicBezTo>
                    <a:cubicBezTo>
                      <a:pt x="812800" y="191119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41939"/>
                <a:ext cx="660400" cy="731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9"/>
                  </a:lnSpc>
                </a:pPr>
                <a:r>
                  <a:rPr lang="en-US" b="true" sz="2199">
                    <a:solidFill>
                      <a:srgbClr val="FFFFF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6</a:t>
                </a: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1464817" y="281760"/>
              <a:ext cx="5583512" cy="483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LOCALIZAÇÃO COMPONENTES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421112" y="4607289"/>
            <a:ext cx="5056481" cy="813800"/>
            <a:chOff x="0" y="0"/>
            <a:chExt cx="6741974" cy="1085067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1033017" cy="1085067"/>
              <a:chOff x="0" y="0"/>
              <a:chExt cx="812800" cy="853754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853754"/>
              </a:xfrm>
              <a:custGeom>
                <a:avLst/>
                <a:gdLst/>
                <a:ahLst/>
                <a:cxnLst/>
                <a:rect r="r" b="b" t="t" l="l"/>
                <a:pathLst>
                  <a:path h="853754" w="812800">
                    <a:moveTo>
                      <a:pt x="406400" y="0"/>
                    </a:moveTo>
                    <a:cubicBezTo>
                      <a:pt x="181951" y="0"/>
                      <a:pt x="0" y="191119"/>
                      <a:pt x="0" y="426877"/>
                    </a:cubicBezTo>
                    <a:cubicBezTo>
                      <a:pt x="0" y="662635"/>
                      <a:pt x="181951" y="853754"/>
                      <a:pt x="406400" y="853754"/>
                    </a:cubicBezTo>
                    <a:cubicBezTo>
                      <a:pt x="630849" y="853754"/>
                      <a:pt x="812800" y="662635"/>
                      <a:pt x="812800" y="426877"/>
                    </a:cubicBezTo>
                    <a:cubicBezTo>
                      <a:pt x="812800" y="191119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6200" y="41939"/>
                <a:ext cx="660400" cy="731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59"/>
                  </a:lnSpc>
                </a:pPr>
                <a:r>
                  <a:rPr lang="en-US" b="true" sz="2199">
                    <a:solidFill>
                      <a:srgbClr val="FFFFFF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7</a:t>
                </a: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1464817" y="281760"/>
              <a:ext cx="5277158" cy="483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ETAPAS FUTURAS 3º SPRINT</a:t>
              </a:r>
            </a:p>
          </p:txBody>
        </p:sp>
      </p:grpSp>
    </p:spTree>
  </p:cSld>
  <p:clrMapOvr>
    <a:masterClrMapping/>
  </p:clrMapOvr>
  <p:transition spd="slow">
    <p:push dir="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2638555">
            <a:off x="-3005357" y="8039889"/>
            <a:ext cx="3604873" cy="3604873"/>
          </a:xfrm>
          <a:custGeom>
            <a:avLst/>
            <a:gdLst/>
            <a:ahLst/>
            <a:cxnLst/>
            <a:rect r="r" b="b" t="t" l="l"/>
            <a:pathLst>
              <a:path h="3604873" w="3604873">
                <a:moveTo>
                  <a:pt x="3604872" y="0"/>
                </a:moveTo>
                <a:lnTo>
                  <a:pt x="0" y="0"/>
                </a:lnTo>
                <a:lnTo>
                  <a:pt x="0" y="3604873"/>
                </a:lnTo>
                <a:lnTo>
                  <a:pt x="3604872" y="3604873"/>
                </a:lnTo>
                <a:lnTo>
                  <a:pt x="36048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59313" y="1066800"/>
            <a:ext cx="10700794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5"/>
              </a:lnSpc>
            </a:pPr>
            <a:r>
              <a:rPr lang="en-US" b="true" sz="7500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RESUMO 1º SPRINT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8374" y="2066925"/>
            <a:ext cx="8781208" cy="7296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99"/>
              </a:lnSpc>
            </a:pPr>
            <a:r>
              <a:rPr lang="en-US" sz="2999" b="true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Problemas: 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Extravio e falta de rastreabilidade das ferramentas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Registros manuais imprecisos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Riscos à segurança operacional</a:t>
            </a:r>
          </a:p>
          <a:p>
            <a:pPr algn="just">
              <a:lnSpc>
                <a:spcPts val="4499"/>
              </a:lnSpc>
            </a:pPr>
          </a:p>
          <a:p>
            <a:pPr algn="just">
              <a:lnSpc>
                <a:spcPts val="4499"/>
              </a:lnSpc>
            </a:pPr>
            <a:r>
              <a:rPr lang="en-US" b="true" sz="2999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Solução: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Sistema com leitor NFC para autenticação de operadores e registro digital de retirada/devolução.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Identificação única das ferramentas (ID).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Software em PC para interface com o usuário.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-2638555">
            <a:off x="-3186419" y="5889686"/>
            <a:ext cx="3604873" cy="3604873"/>
          </a:xfrm>
          <a:custGeom>
            <a:avLst/>
            <a:gdLst/>
            <a:ahLst/>
            <a:cxnLst/>
            <a:rect r="r" b="b" t="t" l="l"/>
            <a:pathLst>
              <a:path h="3604873" w="3604873">
                <a:moveTo>
                  <a:pt x="3604873" y="0"/>
                </a:moveTo>
                <a:lnTo>
                  <a:pt x="0" y="0"/>
                </a:lnTo>
                <a:lnTo>
                  <a:pt x="0" y="3604873"/>
                </a:lnTo>
                <a:lnTo>
                  <a:pt x="3604873" y="3604873"/>
                </a:lnTo>
                <a:lnTo>
                  <a:pt x="360487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2638555">
            <a:off x="-3341614" y="3611229"/>
            <a:ext cx="3604873" cy="3604873"/>
          </a:xfrm>
          <a:custGeom>
            <a:avLst/>
            <a:gdLst/>
            <a:ahLst/>
            <a:cxnLst/>
            <a:rect r="r" b="b" t="t" l="l"/>
            <a:pathLst>
              <a:path h="3604873" w="3604873">
                <a:moveTo>
                  <a:pt x="3604873" y="0"/>
                </a:moveTo>
                <a:lnTo>
                  <a:pt x="0" y="0"/>
                </a:lnTo>
                <a:lnTo>
                  <a:pt x="0" y="3604873"/>
                </a:lnTo>
                <a:lnTo>
                  <a:pt x="3604873" y="3604873"/>
                </a:lnTo>
                <a:lnTo>
                  <a:pt x="360487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2638555">
            <a:off x="-3341614" y="1487430"/>
            <a:ext cx="3604873" cy="3604873"/>
          </a:xfrm>
          <a:custGeom>
            <a:avLst/>
            <a:gdLst/>
            <a:ahLst/>
            <a:cxnLst/>
            <a:rect r="r" b="b" t="t" l="l"/>
            <a:pathLst>
              <a:path h="3604873" w="3604873">
                <a:moveTo>
                  <a:pt x="3604873" y="0"/>
                </a:moveTo>
                <a:lnTo>
                  <a:pt x="0" y="0"/>
                </a:lnTo>
                <a:lnTo>
                  <a:pt x="0" y="3604873"/>
                </a:lnTo>
                <a:lnTo>
                  <a:pt x="3604873" y="3604873"/>
                </a:lnTo>
                <a:lnTo>
                  <a:pt x="360487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2638555">
            <a:off x="-3496809" y="-662235"/>
            <a:ext cx="3604873" cy="3604873"/>
          </a:xfrm>
          <a:custGeom>
            <a:avLst/>
            <a:gdLst/>
            <a:ahLst/>
            <a:cxnLst/>
            <a:rect r="r" b="b" t="t" l="l"/>
            <a:pathLst>
              <a:path h="3604873" w="3604873">
                <a:moveTo>
                  <a:pt x="3604872" y="0"/>
                </a:moveTo>
                <a:lnTo>
                  <a:pt x="0" y="0"/>
                </a:lnTo>
                <a:lnTo>
                  <a:pt x="0" y="3604873"/>
                </a:lnTo>
                <a:lnTo>
                  <a:pt x="3604872" y="3604873"/>
                </a:lnTo>
                <a:lnTo>
                  <a:pt x="36048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4250" y="527200"/>
            <a:ext cx="343858" cy="512526"/>
          </a:xfrm>
          <a:custGeom>
            <a:avLst/>
            <a:gdLst/>
            <a:ahLst/>
            <a:cxnLst/>
            <a:rect r="r" b="b" t="t" l="l"/>
            <a:pathLst>
              <a:path h="512526" w="343858">
                <a:moveTo>
                  <a:pt x="0" y="0"/>
                </a:moveTo>
                <a:lnTo>
                  <a:pt x="343858" y="0"/>
                </a:lnTo>
                <a:lnTo>
                  <a:pt x="343858" y="512526"/>
                </a:lnTo>
                <a:lnTo>
                  <a:pt x="0" y="5125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04148" y="545973"/>
            <a:ext cx="691058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ENTREGA - 1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15449" y="529463"/>
            <a:ext cx="523501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Responsável: Mateus Aparecido</a:t>
            </a:r>
          </a:p>
        </p:txBody>
      </p:sp>
      <p:sp>
        <p:nvSpPr>
          <p:cNvPr name="AutoShape 12" id="12"/>
          <p:cNvSpPr/>
          <p:nvPr/>
        </p:nvSpPr>
        <p:spPr>
          <a:xfrm>
            <a:off x="526512" y="1039726"/>
            <a:ext cx="175187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9777021" y="2066925"/>
            <a:ext cx="7973438" cy="617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99"/>
              </a:lnSpc>
            </a:pPr>
            <a:r>
              <a:rPr lang="en-US" sz="2999" b="true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Resultados esperados: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Rastreabilidade total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Redução de perdas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elhoria na eficiência e segurança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Ba</a:t>
            </a: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se tecnológica para futuras expansões (como travas eletrônicas aut</a:t>
            </a: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omáticas)</a:t>
            </a:r>
          </a:p>
          <a:p>
            <a:pPr algn="just">
              <a:lnSpc>
                <a:spcPts val="4499"/>
              </a:lnSpc>
            </a:pPr>
          </a:p>
          <a:p>
            <a:pPr algn="just">
              <a:lnSpc>
                <a:spcPts val="4499"/>
              </a:lnSpc>
            </a:pPr>
            <a:r>
              <a:rPr lang="en-US" b="true" sz="2999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Orçamento estimado (1ª sprint)</a:t>
            </a: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R$ 1.700,00 a R$ 2.750,00(Leitor NFC, tags, PC e software open source)</a:t>
            </a:r>
          </a:p>
        </p:txBody>
      </p:sp>
    </p:spTree>
  </p:cSld>
  <p:clrMapOvr>
    <a:masterClrMapping/>
  </p:clrMapOvr>
  <p:transition spd="slow">
    <p:push dir="r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74816" y="952500"/>
            <a:ext cx="12822894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RESUMO SPRINT ATUAL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785013" y="9692531"/>
            <a:ext cx="9929013" cy="3086100"/>
            <a:chOff x="0" y="0"/>
            <a:chExt cx="261504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15049" cy="812800"/>
            </a:xfrm>
            <a:custGeom>
              <a:avLst/>
              <a:gdLst/>
              <a:ahLst/>
              <a:cxnLst/>
              <a:rect r="r" b="b" t="t" l="l"/>
              <a:pathLst>
                <a:path h="812800" w="2615049">
                  <a:moveTo>
                    <a:pt x="77973" y="0"/>
                  </a:moveTo>
                  <a:lnTo>
                    <a:pt x="2537076" y="0"/>
                  </a:lnTo>
                  <a:cubicBezTo>
                    <a:pt x="2580139" y="0"/>
                    <a:pt x="2615049" y="34910"/>
                    <a:pt x="2615049" y="77973"/>
                  </a:cubicBezTo>
                  <a:lnTo>
                    <a:pt x="2615049" y="734827"/>
                  </a:lnTo>
                  <a:cubicBezTo>
                    <a:pt x="2615049" y="777890"/>
                    <a:pt x="2580139" y="812800"/>
                    <a:pt x="2537076" y="812800"/>
                  </a:cubicBezTo>
                  <a:lnTo>
                    <a:pt x="77973" y="812800"/>
                  </a:lnTo>
                  <a:cubicBezTo>
                    <a:pt x="34910" y="812800"/>
                    <a:pt x="0" y="777890"/>
                    <a:pt x="0" y="734827"/>
                  </a:cubicBezTo>
                  <a:lnTo>
                    <a:pt x="0" y="77973"/>
                  </a:lnTo>
                  <a:cubicBezTo>
                    <a:pt x="0" y="34910"/>
                    <a:pt x="34910" y="0"/>
                    <a:pt x="77973" y="0"/>
                  </a:cubicBezTo>
                  <a:close/>
                </a:path>
              </a:pathLst>
            </a:custGeom>
            <a:solidFill>
              <a:srgbClr val="00396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6150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54250" y="527200"/>
            <a:ext cx="343858" cy="512526"/>
          </a:xfrm>
          <a:custGeom>
            <a:avLst/>
            <a:gdLst/>
            <a:ahLst/>
            <a:cxnLst/>
            <a:rect r="r" b="b" t="t" l="l"/>
            <a:pathLst>
              <a:path h="512526" w="343858">
                <a:moveTo>
                  <a:pt x="0" y="0"/>
                </a:moveTo>
                <a:lnTo>
                  <a:pt x="343858" y="0"/>
                </a:lnTo>
                <a:lnTo>
                  <a:pt x="343858" y="512526"/>
                </a:lnTo>
                <a:lnTo>
                  <a:pt x="0" y="51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04148" y="545973"/>
            <a:ext cx="691058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ENTREGA - 2</a:t>
            </a:r>
          </a:p>
        </p:txBody>
      </p:sp>
      <p:sp>
        <p:nvSpPr>
          <p:cNvPr name="AutoShape 8" id="8"/>
          <p:cNvSpPr/>
          <p:nvPr/>
        </p:nvSpPr>
        <p:spPr>
          <a:xfrm>
            <a:off x="526512" y="1039726"/>
            <a:ext cx="175187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824050" y="2314575"/>
            <a:ext cx="16639899" cy="694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Nest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segunda sprint, o foco do projeto foi o desenvolvimento do sistema físico de controle de acesso por meio de uma trava eletrônica solenoide, controlada por um Arduino e acionada através da autenticação NFC dos operadores.</a:t>
            </a:r>
          </a:p>
          <a:p>
            <a:pPr algn="just">
              <a:lnSpc>
                <a:spcPts val="4200"/>
              </a:lnSpc>
            </a:pP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sistema permite que apenas operadores previamente cadastrados possam liberar o compartimento de ferramentas, fortalecendo a segurança e a rastreabilidade de uso.</a:t>
            </a:r>
          </a:p>
          <a:p>
            <a:pPr algn="just">
              <a:lnSpc>
                <a:spcPts val="4200"/>
              </a:lnSpc>
            </a:pP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 sprint anterior, foi implementado o banco de dados, responsável por registrar as movimentações e armazenar as informações de operadores e ferramentas.</a:t>
            </a:r>
          </a:p>
          <a:p>
            <a:pPr algn="just">
              <a:lnSpc>
                <a:spcPts val="4200"/>
              </a:lnSpc>
            </a:pP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integração completa entre o banco de dados e o sistema físico será o foco da próxima etapa.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15449" y="529463"/>
            <a:ext cx="523501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Responsável: Mateus Aparecido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74816" y="952500"/>
            <a:ext cx="12822894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b="true" sz="7500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 E JUSTIFICATIVA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806283" y="2668833"/>
            <a:ext cx="7862316" cy="471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b="true">
                <a:solidFill>
                  <a:srgbClr val="22291C"/>
                </a:solidFill>
                <a:latin typeface="Poppins Bold"/>
                <a:ea typeface="Poppins Bold"/>
                <a:cs typeface="Poppins Bold"/>
                <a:sym typeface="Poppins Bold"/>
              </a:rPr>
              <a:t>Justificativa: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O controle de acesso físico é essencial para evitar o uso indevido de ferramentas e reforçar a rastreabilidade dos operadores.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22291C"/>
                </a:solidFill>
                <a:latin typeface="Poppins"/>
                <a:ea typeface="Poppins"/>
                <a:cs typeface="Poppins"/>
                <a:sym typeface="Poppins"/>
              </a:rPr>
              <a:t> A integração entre Arduino, leitor NFC e trava solenoide oferece uma solução prática, segura e de baixo custo, que futuramente será conectada ao banco de dados do sistema.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785013" y="9692531"/>
            <a:ext cx="9929013" cy="3086100"/>
            <a:chOff x="0" y="0"/>
            <a:chExt cx="2615049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15049" cy="812800"/>
            </a:xfrm>
            <a:custGeom>
              <a:avLst/>
              <a:gdLst/>
              <a:ahLst/>
              <a:cxnLst/>
              <a:rect r="r" b="b" t="t" l="l"/>
              <a:pathLst>
                <a:path h="812800" w="2615049">
                  <a:moveTo>
                    <a:pt x="77973" y="0"/>
                  </a:moveTo>
                  <a:lnTo>
                    <a:pt x="2537076" y="0"/>
                  </a:lnTo>
                  <a:cubicBezTo>
                    <a:pt x="2580139" y="0"/>
                    <a:pt x="2615049" y="34910"/>
                    <a:pt x="2615049" y="77973"/>
                  </a:cubicBezTo>
                  <a:lnTo>
                    <a:pt x="2615049" y="734827"/>
                  </a:lnTo>
                  <a:cubicBezTo>
                    <a:pt x="2615049" y="777890"/>
                    <a:pt x="2580139" y="812800"/>
                    <a:pt x="2537076" y="812800"/>
                  </a:cubicBezTo>
                  <a:lnTo>
                    <a:pt x="77973" y="812800"/>
                  </a:lnTo>
                  <a:cubicBezTo>
                    <a:pt x="34910" y="812800"/>
                    <a:pt x="0" y="777890"/>
                    <a:pt x="0" y="734827"/>
                  </a:cubicBezTo>
                  <a:lnTo>
                    <a:pt x="0" y="77973"/>
                  </a:lnTo>
                  <a:cubicBezTo>
                    <a:pt x="0" y="34910"/>
                    <a:pt x="34910" y="0"/>
                    <a:pt x="77973" y="0"/>
                  </a:cubicBezTo>
                  <a:close/>
                </a:path>
              </a:pathLst>
            </a:custGeom>
            <a:solidFill>
              <a:srgbClr val="00396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615049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54250" y="527200"/>
            <a:ext cx="343858" cy="512526"/>
          </a:xfrm>
          <a:custGeom>
            <a:avLst/>
            <a:gdLst/>
            <a:ahLst/>
            <a:cxnLst/>
            <a:rect r="r" b="b" t="t" l="l"/>
            <a:pathLst>
              <a:path h="512526" w="343858">
                <a:moveTo>
                  <a:pt x="0" y="0"/>
                </a:moveTo>
                <a:lnTo>
                  <a:pt x="343858" y="0"/>
                </a:lnTo>
                <a:lnTo>
                  <a:pt x="343858" y="512526"/>
                </a:lnTo>
                <a:lnTo>
                  <a:pt x="0" y="51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04148" y="545973"/>
            <a:ext cx="691058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ENTREGA - 1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52035" y="529463"/>
            <a:ext cx="471656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Responsável: Kaua Yuri</a:t>
            </a:r>
          </a:p>
        </p:txBody>
      </p:sp>
      <p:sp>
        <p:nvSpPr>
          <p:cNvPr name="AutoShape 10" id="10"/>
          <p:cNvSpPr/>
          <p:nvPr/>
        </p:nvSpPr>
        <p:spPr>
          <a:xfrm>
            <a:off x="526512" y="1039726"/>
            <a:ext cx="175187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11987" y="2687883"/>
            <a:ext cx="8432013" cy="694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Objetivo: 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objetivo desta sprint é implementar o controle físico de acesso ao carrinho de ferramentas, utilizando um leitor NFC para identificar operadores e uma trava solenoide eletrônica para liberar ou bloquear o acesso.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Arduino atua como unidade central, recebendo o sinal do leitor e acionando a trava após validar o operador cadastrado.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Essa etapa garante que o sistema possua segurança física real, complementando a parte lógica de registro desenvolvida na primeira sprint.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0734" y="1668859"/>
            <a:ext cx="17226532" cy="8074697"/>
          </a:xfrm>
          <a:custGeom>
            <a:avLst/>
            <a:gdLst/>
            <a:ahLst/>
            <a:cxnLst/>
            <a:rect r="r" b="b" t="t" l="l"/>
            <a:pathLst>
              <a:path h="8074697" w="17226532">
                <a:moveTo>
                  <a:pt x="0" y="0"/>
                </a:moveTo>
                <a:lnTo>
                  <a:pt x="17226532" y="0"/>
                </a:lnTo>
                <a:lnTo>
                  <a:pt x="17226532" y="8074697"/>
                </a:lnTo>
                <a:lnTo>
                  <a:pt x="0" y="8074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20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362970" y="-2961655"/>
            <a:ext cx="7210257" cy="9012725"/>
            <a:chOff x="0" y="0"/>
            <a:chExt cx="9613675" cy="12016967"/>
          </a:xfrm>
        </p:grpSpPr>
        <p:sp>
          <p:nvSpPr>
            <p:cNvPr name="Freeform 4" id="4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4347218" y="5143500"/>
            <a:ext cx="7210257" cy="9012725"/>
            <a:chOff x="0" y="0"/>
            <a:chExt cx="9613675" cy="12016967"/>
          </a:xfrm>
        </p:grpSpPr>
        <p:sp>
          <p:nvSpPr>
            <p:cNvPr name="Freeform 7" id="7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26512" y="527200"/>
            <a:ext cx="17518700" cy="531576"/>
            <a:chOff x="0" y="0"/>
            <a:chExt cx="23358267" cy="7087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36984" y="0"/>
              <a:ext cx="458478" cy="683368"/>
            </a:xfrm>
            <a:custGeom>
              <a:avLst/>
              <a:gdLst/>
              <a:ahLst/>
              <a:cxnLst/>
              <a:rect r="r" b="b" t="t" l="l"/>
              <a:pathLst>
                <a:path h="683368" w="458478">
                  <a:moveTo>
                    <a:pt x="0" y="0"/>
                  </a:moveTo>
                  <a:lnTo>
                    <a:pt x="458477" y="0"/>
                  </a:lnTo>
                  <a:lnTo>
                    <a:pt x="458477" y="683368"/>
                  </a:lnTo>
                  <a:lnTo>
                    <a:pt x="0" y="683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036848" y="47256"/>
              <a:ext cx="9214119" cy="566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ENTREGA - 1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6612599" y="25242"/>
              <a:ext cx="6338688" cy="566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Responsável: Vinícius Santos</a:t>
              </a:r>
            </a:p>
          </p:txBody>
        </p:sp>
        <p:sp>
          <p:nvSpPr>
            <p:cNvPr name="AutoShape 13" id="13"/>
            <p:cNvSpPr/>
            <p:nvPr/>
          </p:nvSpPr>
          <p:spPr>
            <a:xfrm>
              <a:off x="0" y="683368"/>
              <a:ext cx="23358267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3279756" y="1021159"/>
            <a:ext cx="12083213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ESQUEMA ARDUINO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52498"/>
            <a:ext cx="16230600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COMPONENTES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-2638555">
            <a:off x="17762800" y="2737143"/>
            <a:ext cx="3838664" cy="3838664"/>
          </a:xfrm>
          <a:custGeom>
            <a:avLst/>
            <a:gdLst/>
            <a:ahLst/>
            <a:cxnLst/>
            <a:rect r="r" b="b" t="t" l="l"/>
            <a:pathLst>
              <a:path h="3838664" w="3838664">
                <a:moveTo>
                  <a:pt x="3838664" y="0"/>
                </a:moveTo>
                <a:lnTo>
                  <a:pt x="0" y="0"/>
                </a:lnTo>
                <a:lnTo>
                  <a:pt x="0" y="3838664"/>
                </a:lnTo>
                <a:lnTo>
                  <a:pt x="3838664" y="3838664"/>
                </a:lnTo>
                <a:lnTo>
                  <a:pt x="38386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2638555">
            <a:off x="15980367" y="-847759"/>
            <a:ext cx="3838664" cy="3838664"/>
          </a:xfrm>
          <a:custGeom>
            <a:avLst/>
            <a:gdLst/>
            <a:ahLst/>
            <a:cxnLst/>
            <a:rect r="r" b="b" t="t" l="l"/>
            <a:pathLst>
              <a:path h="3838664" w="3838664">
                <a:moveTo>
                  <a:pt x="3838664" y="0"/>
                </a:moveTo>
                <a:lnTo>
                  <a:pt x="0" y="0"/>
                </a:lnTo>
                <a:lnTo>
                  <a:pt x="0" y="3838664"/>
                </a:lnTo>
                <a:lnTo>
                  <a:pt x="3838664" y="3838664"/>
                </a:lnTo>
                <a:lnTo>
                  <a:pt x="38386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4250" y="527200"/>
            <a:ext cx="343858" cy="512526"/>
          </a:xfrm>
          <a:custGeom>
            <a:avLst/>
            <a:gdLst/>
            <a:ahLst/>
            <a:cxnLst/>
            <a:rect r="r" b="b" t="t" l="l"/>
            <a:pathLst>
              <a:path h="512526" w="343858">
                <a:moveTo>
                  <a:pt x="0" y="0"/>
                </a:moveTo>
                <a:lnTo>
                  <a:pt x="343858" y="0"/>
                </a:lnTo>
                <a:lnTo>
                  <a:pt x="343858" y="512526"/>
                </a:lnTo>
                <a:lnTo>
                  <a:pt x="0" y="5125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810202" y="598498"/>
            <a:ext cx="4754947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Responsável: Pedro Henrique</a:t>
            </a:r>
          </a:p>
        </p:txBody>
      </p:sp>
      <p:sp>
        <p:nvSpPr>
          <p:cNvPr name="AutoShape 7" id="7"/>
          <p:cNvSpPr/>
          <p:nvPr/>
        </p:nvSpPr>
        <p:spPr>
          <a:xfrm>
            <a:off x="526512" y="1039726"/>
            <a:ext cx="175187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8" id="8"/>
          <p:cNvGraphicFramePr/>
          <p:nvPr/>
        </p:nvGraphicFramePr>
        <p:xfrm>
          <a:off x="1028700" y="2214573"/>
          <a:ext cx="12001500" cy="6286500"/>
        </p:xfrm>
        <a:graphic>
          <a:graphicData uri="http://schemas.openxmlformats.org/presentationml/2006/ole">
            <p:oleObj imgW="14401800" imgH="86868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304148" y="545973"/>
            <a:ext cx="691058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ENTREGA - 3</a:t>
            </a:r>
          </a:p>
        </p:txBody>
      </p:sp>
    </p:spTree>
  </p:cSld>
  <p:clrMapOvr>
    <a:masterClrMapping/>
  </p:clrMapOvr>
  <p:transition spd="slow">
    <p:push dir="d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4250" y="527200"/>
            <a:ext cx="343858" cy="512526"/>
          </a:xfrm>
          <a:custGeom>
            <a:avLst/>
            <a:gdLst/>
            <a:ahLst/>
            <a:cxnLst/>
            <a:rect r="r" b="b" t="t" l="l"/>
            <a:pathLst>
              <a:path h="512526" w="343858">
                <a:moveTo>
                  <a:pt x="0" y="0"/>
                </a:moveTo>
                <a:lnTo>
                  <a:pt x="343858" y="0"/>
                </a:lnTo>
                <a:lnTo>
                  <a:pt x="343858" y="512526"/>
                </a:lnTo>
                <a:lnTo>
                  <a:pt x="0" y="512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001208" y="585701"/>
            <a:ext cx="478223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Responsável: Pedro Henrique</a:t>
            </a:r>
          </a:p>
        </p:txBody>
      </p:sp>
      <p:sp>
        <p:nvSpPr>
          <p:cNvPr name="AutoShape 4" id="4"/>
          <p:cNvSpPr/>
          <p:nvPr/>
        </p:nvSpPr>
        <p:spPr>
          <a:xfrm>
            <a:off x="526512" y="1039726"/>
            <a:ext cx="175187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1006976" y="2864625"/>
            <a:ext cx="6252324" cy="6105642"/>
          </a:xfrm>
          <a:custGeom>
            <a:avLst/>
            <a:gdLst/>
            <a:ahLst/>
            <a:cxnLst/>
            <a:rect r="r" b="b" t="t" l="l"/>
            <a:pathLst>
              <a:path h="6105642" w="6252324">
                <a:moveTo>
                  <a:pt x="0" y="0"/>
                </a:moveTo>
                <a:lnTo>
                  <a:pt x="6252324" y="0"/>
                </a:lnTo>
                <a:lnTo>
                  <a:pt x="6252324" y="6105642"/>
                </a:lnTo>
                <a:lnTo>
                  <a:pt x="0" y="6105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8522" y="1057994"/>
            <a:ext cx="16950956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LOCAL</a:t>
            </a: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IZAÇÃO DOS COMPONENTES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4250" y="2788425"/>
            <a:ext cx="10152726" cy="715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Leitor NFC (ACR122U ou módulo PN532)</a:t>
            </a:r>
          </a:p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Local sugerido:</a:t>
            </a:r>
          </a:p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topo do carrinho, no canto direito (perto da tranca).</a:t>
            </a:r>
          </a:p>
          <a:p>
            <a:pPr algn="just">
              <a:lnSpc>
                <a:spcPts val="3779"/>
              </a:lnSpc>
            </a:pPr>
          </a:p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Trava Solenoide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1° opção: Na lateral interna da gaveta superior ou na estrutura lateral do carrinho, travando todas as gavetas ao mesmo tempo. 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2° opção: Ao lado das gavetas, contendo uma tranca para cada gaveta</a:t>
            </a:r>
          </a:p>
          <a:p>
            <a:pPr algn="just">
              <a:lnSpc>
                <a:spcPts val="3779"/>
              </a:lnSpc>
            </a:pPr>
          </a:p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Arduino (UNO, Nano ou Mega)</a:t>
            </a:r>
          </a:p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Local sugerido:</a:t>
            </a:r>
          </a:p>
          <a:p>
            <a:pPr algn="just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Parte lateral do carrinho, dentro de uma caixa plástica isolada com ventilação.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4148" y="545973"/>
            <a:ext cx="232643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ENTREGA - 2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75118" y="9191625"/>
            <a:ext cx="331603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Apenas para ilustrar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29375" y="1021159"/>
            <a:ext cx="13229251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ETAPAS FUTURAS 3º SPRINT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847975"/>
            <a:ext cx="16230600" cy="4486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Integrar o sistema físico (Arduino + trava) ao banco de dados desenvolvido na primeira sprint.</a:t>
            </a:r>
          </a:p>
          <a:p>
            <a:pPr algn="just">
              <a:lnSpc>
                <a:spcPts val="4499"/>
              </a:lnSpc>
            </a:pP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Implementar registro automático no histórico ao liberar o acesso.</a:t>
            </a:r>
          </a:p>
          <a:p>
            <a:pPr algn="just">
              <a:lnSpc>
                <a:spcPts val="4499"/>
              </a:lnSpc>
            </a:pP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Criar dashboard de controle e relatório de movimentações.</a:t>
            </a:r>
          </a:p>
          <a:p>
            <a:pPr algn="just">
              <a:lnSpc>
                <a:spcPts val="4499"/>
              </a:lnSpc>
            </a:pPr>
          </a:p>
          <a:p>
            <a:pPr algn="just" marL="647697" indent="-323848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Testar o sistema completo em operação real.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362970" y="-2961655"/>
            <a:ext cx="7210257" cy="9012725"/>
            <a:chOff x="0" y="0"/>
            <a:chExt cx="9613675" cy="12016967"/>
          </a:xfrm>
        </p:grpSpPr>
        <p:sp>
          <p:nvSpPr>
            <p:cNvPr name="Freeform 5" id="5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4347218" y="5143500"/>
            <a:ext cx="7210257" cy="9012725"/>
            <a:chOff x="0" y="0"/>
            <a:chExt cx="9613675" cy="12016967"/>
          </a:xfrm>
        </p:grpSpPr>
        <p:sp>
          <p:nvSpPr>
            <p:cNvPr name="Freeform 8" id="8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26512" y="527200"/>
            <a:ext cx="17518700" cy="531576"/>
            <a:chOff x="0" y="0"/>
            <a:chExt cx="23358267" cy="7087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36984" y="0"/>
              <a:ext cx="458478" cy="683368"/>
            </a:xfrm>
            <a:custGeom>
              <a:avLst/>
              <a:gdLst/>
              <a:ahLst/>
              <a:cxnLst/>
              <a:rect r="r" b="b" t="t" l="l"/>
              <a:pathLst>
                <a:path h="683368" w="458478">
                  <a:moveTo>
                    <a:pt x="0" y="0"/>
                  </a:moveTo>
                  <a:lnTo>
                    <a:pt x="458477" y="0"/>
                  </a:lnTo>
                  <a:lnTo>
                    <a:pt x="458477" y="683368"/>
                  </a:lnTo>
                  <a:lnTo>
                    <a:pt x="0" y="683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036848" y="47256"/>
              <a:ext cx="9214119" cy="566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ENTREGA - 2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6612599" y="25242"/>
              <a:ext cx="6338688" cy="566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Responsável: Vinícius Santos</a:t>
              </a:r>
            </a:p>
          </p:txBody>
        </p:sp>
        <p:sp>
          <p:nvSpPr>
            <p:cNvPr name="AutoShape 14" id="14"/>
            <p:cNvSpPr/>
            <p:nvPr/>
          </p:nvSpPr>
          <p:spPr>
            <a:xfrm>
              <a:off x="0" y="683368"/>
              <a:ext cx="23358267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637903" y="-4267891"/>
            <a:ext cx="7210257" cy="9012725"/>
            <a:chOff x="0" y="0"/>
            <a:chExt cx="9613675" cy="12016967"/>
          </a:xfrm>
        </p:grpSpPr>
        <p:sp>
          <p:nvSpPr>
            <p:cNvPr name="Freeform 3" id="3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4347218" y="5143500"/>
            <a:ext cx="7210257" cy="9012725"/>
            <a:chOff x="0" y="0"/>
            <a:chExt cx="9613675" cy="12016967"/>
          </a:xfrm>
        </p:grpSpPr>
        <p:sp>
          <p:nvSpPr>
            <p:cNvPr name="Freeform 6" id="6"/>
            <p:cNvSpPr/>
            <p:nvPr/>
          </p:nvSpPr>
          <p:spPr>
            <a:xfrm flipH="true" flipV="false" rot="-2638555">
              <a:off x="3436017" y="5839308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true" flipV="false" rot="-2638555">
              <a:off x="1059440" y="1059440"/>
              <a:ext cx="5118219" cy="5118219"/>
            </a:xfrm>
            <a:custGeom>
              <a:avLst/>
              <a:gdLst/>
              <a:ahLst/>
              <a:cxnLst/>
              <a:rect r="r" b="b" t="t" l="l"/>
              <a:pathLst>
                <a:path h="5118219" w="5118219">
                  <a:moveTo>
                    <a:pt x="5118219" y="0"/>
                  </a:moveTo>
                  <a:lnTo>
                    <a:pt x="0" y="0"/>
                  </a:lnTo>
                  <a:lnTo>
                    <a:pt x="0" y="5118219"/>
                  </a:lnTo>
                  <a:lnTo>
                    <a:pt x="5118219" y="5118219"/>
                  </a:lnTo>
                  <a:lnTo>
                    <a:pt x="511821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54250" y="1093448"/>
            <a:ext cx="1640505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COMPUTADOR/SERVIDOR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28346" y="2356846"/>
            <a:ext cx="9416866" cy="777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1. Leitura do UID: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leitor ACR122U extrai o UID (Unique Identifier) da tag/celular NFC. Este é o identificador único do operador.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2. Conexão ao Banco de Dados: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programa se conecta ao banco de dados (ex: SQLite) onde as ferramentas e os operadores estão cadastradas.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3. Identificação e Status: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UID lido é usado para buscar a ferramenta. O sistema verifica seu status atual (disponível/em uso).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4. Registro da Movimentação: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status é atualizado (entrada/saída) e a movimentação é registrada no histórico do banco de dados</a:t>
            </a: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54250" y="527200"/>
            <a:ext cx="343858" cy="512526"/>
          </a:xfrm>
          <a:custGeom>
            <a:avLst/>
            <a:gdLst/>
            <a:ahLst/>
            <a:cxnLst/>
            <a:rect r="r" b="b" t="t" l="l"/>
            <a:pathLst>
              <a:path h="512526" w="343858">
                <a:moveTo>
                  <a:pt x="0" y="0"/>
                </a:moveTo>
                <a:lnTo>
                  <a:pt x="343858" y="0"/>
                </a:lnTo>
                <a:lnTo>
                  <a:pt x="343858" y="512526"/>
                </a:lnTo>
                <a:lnTo>
                  <a:pt x="0" y="5125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04148" y="545973"/>
            <a:ext cx="691058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ENTREGA - 1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14613" y="587375"/>
            <a:ext cx="482571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Responsável: Pedro Henrique</a:t>
            </a:r>
          </a:p>
        </p:txBody>
      </p:sp>
      <p:sp>
        <p:nvSpPr>
          <p:cNvPr name="AutoShape 13" id="13"/>
          <p:cNvSpPr/>
          <p:nvPr/>
        </p:nvSpPr>
        <p:spPr>
          <a:xfrm>
            <a:off x="526512" y="1039726"/>
            <a:ext cx="175187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36344" y="2423521"/>
            <a:ext cx="8078394" cy="7863479"/>
          </a:xfrm>
          <a:custGeom>
            <a:avLst/>
            <a:gdLst/>
            <a:ahLst/>
            <a:cxnLst/>
            <a:rect r="r" b="b" t="t" l="l"/>
            <a:pathLst>
              <a:path h="7863479" w="8078394">
                <a:moveTo>
                  <a:pt x="0" y="0"/>
                </a:moveTo>
                <a:lnTo>
                  <a:pt x="8078394" y="0"/>
                </a:lnTo>
                <a:lnTo>
                  <a:pt x="8078394" y="7863479"/>
                </a:lnTo>
                <a:lnTo>
                  <a:pt x="0" y="78634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586" t="0" r="-1586" b="0"/>
            </a:stretch>
          </a:blipFill>
        </p:spPr>
      </p:sp>
    </p:spTree>
  </p:cSld>
  <p:clrMapOvr>
    <a:masterClrMapping/>
  </p:clrMapOvr>
  <p:transition spd="slow">
    <p:push dir="d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85238"/>
            <a:ext cx="16230600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FONTE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-2638555">
            <a:off x="17762800" y="2737143"/>
            <a:ext cx="3838664" cy="3838664"/>
          </a:xfrm>
          <a:custGeom>
            <a:avLst/>
            <a:gdLst/>
            <a:ahLst/>
            <a:cxnLst/>
            <a:rect r="r" b="b" t="t" l="l"/>
            <a:pathLst>
              <a:path h="3838664" w="3838664">
                <a:moveTo>
                  <a:pt x="3838664" y="0"/>
                </a:moveTo>
                <a:lnTo>
                  <a:pt x="0" y="0"/>
                </a:lnTo>
                <a:lnTo>
                  <a:pt x="0" y="3838664"/>
                </a:lnTo>
                <a:lnTo>
                  <a:pt x="3838664" y="3838664"/>
                </a:lnTo>
                <a:lnTo>
                  <a:pt x="38386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2638555">
            <a:off x="15980367" y="-847759"/>
            <a:ext cx="3838664" cy="3838664"/>
          </a:xfrm>
          <a:custGeom>
            <a:avLst/>
            <a:gdLst/>
            <a:ahLst/>
            <a:cxnLst/>
            <a:rect r="r" b="b" t="t" l="l"/>
            <a:pathLst>
              <a:path h="3838664" w="3838664">
                <a:moveTo>
                  <a:pt x="3838664" y="0"/>
                </a:moveTo>
                <a:lnTo>
                  <a:pt x="0" y="0"/>
                </a:lnTo>
                <a:lnTo>
                  <a:pt x="0" y="3838664"/>
                </a:lnTo>
                <a:lnTo>
                  <a:pt x="3838664" y="3838664"/>
                </a:lnTo>
                <a:lnTo>
                  <a:pt x="38386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25283" y="2348547"/>
            <a:ext cx="15037433" cy="5523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2" indent="-323846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4" tooltip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/>
              </a:rPr>
              <a:t>FAZEDORES</a:t>
            </a: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5" tooltip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/>
              </a:rPr>
              <a:t>. Fechadura eletrônica com Arduino e RFID. Disponível em: </a:t>
            </a: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6" tooltip="https://blog.fazedores.com/fechadura-eletronica-com-arduino-e-rfid/"/>
              </a:rPr>
              <a:t>https://blog.fazedores.com/fechadura-eletronica-com-arduino-e-rfid/</a:t>
            </a: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7" tooltip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/>
              </a:rPr>
              <a:t>. Acesso em: 18 out. 2025.</a:t>
            </a:r>
          </a:p>
          <a:p>
            <a:pPr algn="just">
              <a:lnSpc>
                <a:spcPts val="4199"/>
              </a:lnSpc>
            </a:pPr>
          </a:p>
          <a:p>
            <a:pPr algn="just" marL="647692" indent="-323846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8" tooltip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/>
              </a:rPr>
              <a:t>MERCADO LIVRE. Trava solenoide 12V para Arduino. Disponível em: </a:t>
            </a: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9" tooltip="https://www.mercadolivre.com.br/trava-fechadura-eletrica-solenoide-12v-para-arduino/up/MLBU1190033542"/>
              </a:rPr>
              <a:t>https://www.mercadolivre.com.br/trava-fechadura-eletrica-solenoide-12v-para-arduino/up/MLBU1190033542</a:t>
            </a: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10" tooltip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/>
              </a:rPr>
              <a:t>. Acesso em: 18 out. 2025.</a:t>
            </a:r>
          </a:p>
          <a:p>
            <a:pPr algn="just">
              <a:lnSpc>
                <a:spcPts val="4199"/>
              </a:lnSpc>
            </a:pPr>
          </a:p>
          <a:p>
            <a:pPr algn="just" marL="647692" indent="-323846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11" tooltip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/>
              </a:rPr>
              <a:t>YOUTUBE. Controle de tranca com Arduino e solenoide. Disponível em: </a:t>
            </a: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12" tooltip="https://www.youtube.com/watch?v=0KX-8koO14c"/>
              </a:rPr>
              <a:t>https://www.youtube.com/watch?v=0KX-8koO14c</a:t>
            </a:r>
            <a:r>
              <a:rPr lang="en-US" sz="2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13" tooltip="https://www.aliexpress.com/p/tesla-landing/index.html?scenario=c_ppc_item_bridge&amp;productId=1005005684918960&amp;_immersiveMode=true&amp;withMainCard=true&amp;src=google&amp;aff_platform=true&amp;isdl=y&amp;src=google&amp;albch=shopping&amp;acnt=768-202-3196&amp;isdl=y&amp;slnk=&amp;plac=&amp;mtctp=&amp;albbt=Google_7_shopping&amp;aff_platform=google&amp;aff_short_key=UneMJZVf&amp;gclsrc=aw.ds&amp;&amp;albagn=888888&amp;&amp;ds_e_adid=&amp;ds_e_matchtype=&amp;ds_e_device=c&amp;ds_e_network=x&amp;ds_e_product_group_id=&amp;ds_e_product_id=pt1005005684918960&amp;ds_e_product_merchant_id=583528903&amp;ds_e_product_country=BR&amp;ds_e_product_language=pt&amp;ds_e_product_channel=online&amp;ds_e_product_store_id=&amp;ds_url_v=2&amp;albcp=21106536414&amp;albag=&amp;isSmbAutoCall=false&amp;needSmbHouyi=false&amp;gad_source=4&amp;gad_campaignid=21106537179&amp;gbraid=0AAAAAC_WlP97PS1dgTwKXsmHHjnJ4ZFT-&amp;gclid=Cj0KCQjw58PGBhCkARIsADbDilxPr20u-eGHCa-PCobK2kOWyeI3A1AQzZxpXV4zWD2DOluR6y_eDLAaArr-EALw_wcB"/>
              </a:rPr>
              <a:t>. Acesso em: 18 out. 2025.</a:t>
            </a:r>
          </a:p>
          <a:p>
            <a:pPr algn="just">
              <a:lnSpc>
                <a:spcPts val="2239"/>
              </a:lnSpc>
            </a:pPr>
          </a:p>
        </p:txBody>
      </p:sp>
    </p:spTree>
  </p:cSld>
  <p:clrMapOvr>
    <a:masterClrMapping/>
  </p:clrMapOvr>
  <p:transition spd="slow">
    <p:push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80247ADB237764AAB47CDA073F4913D" ma:contentTypeVersion="13" ma:contentTypeDescription="Crie um novo documento." ma:contentTypeScope="" ma:versionID="fa5cb0b59d9ac62210beb6751a368d5e">
  <xsd:schema xmlns:xsd="http://www.w3.org/2001/XMLSchema" xmlns:xs="http://www.w3.org/2001/XMLSchema" xmlns:p="http://schemas.microsoft.com/office/2006/metadata/properties" xmlns:ns2="ddb99b96-edc9-4a32-93e9-1dbc100bef9b" xmlns:ns3="a48d182f-17e0-42b6-9936-b02c58680161" targetNamespace="http://schemas.microsoft.com/office/2006/metadata/properties" ma:root="true" ma:fieldsID="6c0e612be8dcce56c5937ffe0286f045" ns2:_="" ns3:_="">
    <xsd:import namespace="ddb99b96-edc9-4a32-93e9-1dbc100bef9b"/>
    <xsd:import namespace="a48d182f-17e0-42b6-9936-b02c58680161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b99b96-edc9-4a32-93e9-1dbc100bef9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8d182f-17e0-42b6-9936-b02c5868016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2345afb-524c-4dfc-8f67-61bf223aee2a}" ma:internalName="TaxCatchAll" ma:showField="CatchAllData" ma:web="a48d182f-17e0-42b6-9936-b02c58680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ddb99b96-edc9-4a32-93e9-1dbc100bef9b" xsi:nil="true"/>
    <lcf76f155ced4ddcb4097134ff3c332f xmlns="ddb99b96-edc9-4a32-93e9-1dbc100bef9b">
      <Terms xmlns="http://schemas.microsoft.com/office/infopath/2007/PartnerControls"/>
    </lcf76f155ced4ddcb4097134ff3c332f>
    <TaxCatchAll xmlns="a48d182f-17e0-42b6-9936-b02c58680161" xsi:nil="true"/>
  </documentManagement>
</p:properties>
</file>

<file path=customXml/itemProps1.xml><?xml version="1.0" encoding="utf-8"?>
<ds:datastoreItem xmlns:ds="http://schemas.openxmlformats.org/officeDocument/2006/customXml" ds:itemID="{3A7E21ED-5C9A-49DD-8BEF-C8D083A11C2F}"/>
</file>

<file path=customXml/itemProps2.xml><?xml version="1.0" encoding="utf-8"?>
<ds:datastoreItem xmlns:ds="http://schemas.openxmlformats.org/officeDocument/2006/customXml" ds:itemID="{1F271A21-EB25-4AEB-A93A-3B8564EFBFC5}"/>
</file>

<file path=customXml/itemProps3.xml><?xml version="1.0" encoding="utf-8"?>
<ds:datastoreItem xmlns:ds="http://schemas.openxmlformats.org/officeDocument/2006/customXml" ds:itemID="{C5C5355E-499C-4DB4-BC39-4BC787F1175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 API 2º SPRINT</dc:title>
  <cp:revision>1</cp:revision>
  <dcterms:created xsi:type="dcterms:W3CDTF">2006-08-16T00:00:00Z</dcterms:created>
  <dcterms:modified xsi:type="dcterms:W3CDTF">2011-08-01T06:04:30Z</dcterms:modified>
  <dc:identifier>DAGzkZ7BqD0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0x010100380247ADB237764AAB47CDA073F4913D</vt:lpwstr>
  </property>
</Properties>
</file>